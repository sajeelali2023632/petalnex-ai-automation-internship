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2" d="100"/>
          <a:sy n="92" d="100"/>
        </p:scale>
        <p:origin x="307" y="-2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2166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280160" y="4937760"/>
            <a:ext cx="3291840" cy="32918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1133856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33172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CUSTOMER SUPPORT AUTOMATION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640080" y="324612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ticket triage, AI-drafted responses, and a human review gate — built end-to-end in n8n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58368" y="4160520"/>
            <a:ext cx="292608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40080" y="43434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Petalnex AI Automation Internship — Final Capstone Presentation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47091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Sajeel Ali   ·   Day 36 — Final Presentation &amp; Demo Day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562356"/>
            <a:ext cx="265176" cy="265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Problem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457200" y="12344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Petalnex is a project-based software, AI, and digital-services company — every client engagement generates a steady stream of support requests spanning technical issues, integrations, billing, and project-status questions.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57200" y="2240280"/>
            <a:ext cx="5074920" cy="1965960"/>
          </a:xfrm>
          <a:prstGeom prst="roundRect">
            <a:avLst>
              <a:gd name="adj" fmla="val 4186"/>
            </a:avLst>
          </a:prstGeom>
          <a:solidFill>
            <a:srgbClr val="E7EDF0"/>
          </a:solidFill>
          <a:ln/>
          <a:effectLst>
            <a:outerShdw blurRad="76200" dist="25400" dir="5400000" algn="bl" rotWithShape="0">
              <a:srgbClr val="9AA7B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31520" y="244144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consistent triage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2862072"/>
            <a:ext cx="4526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ticket is read and categorized manually — quality depends on who happens to pick it up.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806440" y="2240280"/>
            <a:ext cx="5074920" cy="1965960"/>
          </a:xfrm>
          <a:prstGeom prst="roundRect">
            <a:avLst>
              <a:gd name="adj" fmla="val 4186"/>
            </a:avLst>
          </a:prstGeom>
          <a:solidFill>
            <a:srgbClr val="E7EDF0"/>
          </a:solidFill>
          <a:ln/>
          <a:effectLst>
            <a:outerShdw blurRad="76200" dist="25400" dir="5400000" algn="bl" rotWithShape="0">
              <a:srgbClr val="9AA7B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080760" y="244144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systematic reuse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080760" y="2862072"/>
            <a:ext cx="4526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already documented internally aren’t surfaced automatically; agents re-derive the same solutions.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4480560"/>
            <a:ext cx="5074920" cy="1965960"/>
          </a:xfrm>
          <a:prstGeom prst="roundRect">
            <a:avLst>
              <a:gd name="adj" fmla="val 4186"/>
            </a:avLst>
          </a:prstGeom>
          <a:solidFill>
            <a:srgbClr val="E7EDF0"/>
          </a:solidFill>
          <a:ln/>
          <a:effectLst>
            <a:outerShdw blurRad="76200" dist="25400" dir="5400000" algn="bl" rotWithShape="0">
              <a:srgbClr val="9AA7B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31520" y="468172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risk-based routing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31520" y="5102352"/>
            <a:ext cx="4526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Urgent, frustrated, or sensitive tickets get no priority over routine ones.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806440" y="4480560"/>
            <a:ext cx="5074920" cy="1965960"/>
          </a:xfrm>
          <a:prstGeom prst="roundRect">
            <a:avLst>
              <a:gd name="adj" fmla="val 4186"/>
            </a:avLst>
          </a:prstGeom>
          <a:solidFill>
            <a:srgbClr val="E7EDF0"/>
          </a:solidFill>
          <a:ln/>
          <a:effectLst>
            <a:outerShdw blurRad="76200" dist="25400" dir="5400000" algn="bl" rotWithShape="0">
              <a:srgbClr val="9AA7B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080760" y="468172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input screening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080760" y="5102352"/>
            <a:ext cx="4526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checks a submission for malicious content before a human or system acts on it.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Petalnex — AI Automation Internship  |  AI Customer Support Automation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562356"/>
            <a:ext cx="265176" cy="265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Existing Process (Manual)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417320"/>
            <a:ext cx="2395728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C7D1DA"/>
            </a:solidFill>
            <a:prstDash val="solid"/>
          </a:ln>
          <a:effectLst>
            <a:outerShdw blurRad="50800" dist="12700" dir="5400000" algn="bl" rotWithShape="0">
              <a:srgbClr val="9AA7B5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93776" y="1417320"/>
            <a:ext cx="23225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emails or messages a request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2880360" y="1888236"/>
            <a:ext cx="201168" cy="109728"/>
          </a:xfrm>
          <a:prstGeom prst="rightArrow">
            <a:avLst/>
          </a:prstGeom>
          <a:solidFill>
            <a:srgbClr val="ABB6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3108960" y="1417320"/>
            <a:ext cx="2395728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C7D1DA"/>
            </a:solidFill>
            <a:prstDash val="solid"/>
          </a:ln>
          <a:effectLst>
            <a:outerShdw blurRad="50800" dist="12700" dir="5400000" algn="bl" rotWithShape="0">
              <a:srgbClr val="9AA7B5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145536" y="1417320"/>
            <a:ext cx="23225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staff reads it manually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532120" y="1888236"/>
            <a:ext cx="201168" cy="109728"/>
          </a:xfrm>
          <a:prstGeom prst="rightArrow">
            <a:avLst/>
          </a:prstGeom>
          <a:solidFill>
            <a:srgbClr val="ABB6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760720" y="1417320"/>
            <a:ext cx="2395728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C7D1DA"/>
            </a:solidFill>
            <a:prstDash val="solid"/>
          </a:ln>
          <a:effectLst>
            <a:outerShdw blurRad="50800" dist="12700" dir="5400000" algn="bl" rotWithShape="0">
              <a:srgbClr val="9AA7B5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797296" y="1417320"/>
            <a:ext cx="23225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manually searches docs / memory for a fix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183880" y="1888236"/>
            <a:ext cx="201168" cy="109728"/>
          </a:xfrm>
          <a:prstGeom prst="rightArrow">
            <a:avLst/>
          </a:prstGeom>
          <a:solidFill>
            <a:srgbClr val="ABB6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8412480" y="1417320"/>
            <a:ext cx="2395728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C7D1DA"/>
            </a:solidFill>
            <a:prstDash val="solid"/>
          </a:ln>
          <a:effectLst>
            <a:outerShdw blurRad="50800" dist="12700" dir="5400000" algn="bl" rotWithShape="0">
              <a:srgbClr val="9AA7B5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449056" y="1417320"/>
            <a:ext cx="23225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manually drafts and sends a reply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57200" y="2880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Pain points this creates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457200" y="3291840"/>
            <a:ext cx="10378440" cy="2651760"/>
          </a:xfrm>
          <a:prstGeom prst="roundRect">
            <a:avLst>
              <a:gd name="adj" fmla="val 3103"/>
            </a:avLst>
          </a:prstGeom>
          <a:solidFill>
            <a:srgbClr val="E7EDF0"/>
          </a:solidFill>
          <a:ln/>
          <a:effectLst>
            <a:outerShdw blurRad="76200" dist="25400" dir="5400000" algn="bl" rotWithShape="0">
              <a:srgbClr val="9AA7B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77240" y="3520440"/>
            <a:ext cx="9784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first response — tickets wait in a shared inbox until someone is free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categorization and priority, since it depends entirely on the reader’s judgment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Tribal knowledge dependency — the best answer often lives in one person’s memory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security screening — malicious or malformed input is treated the same as a normal question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Petalnex — AI Automation Internship  |  AI Customer Support Automation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562356"/>
            <a:ext cx="265176" cy="265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Proposed Solution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457200" y="12344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n8n workflow that validates, classifies, retrieves, and drafts a reply automatically — and routes anything sensitive to a human before it ever reaches the client.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57200" y="2286000"/>
            <a:ext cx="2395728" cy="2743200"/>
          </a:xfrm>
          <a:prstGeom prst="roundRect">
            <a:avLst>
              <a:gd name="adj" fmla="val 343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B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344168" y="2542032"/>
            <a:ext cx="621792" cy="621792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0472" y="2688336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720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6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94360" y="333756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 &amp; Store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640080" y="3794760"/>
            <a:ext cx="20299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and validate the submission before it costs anything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2880360" y="3602736"/>
            <a:ext cx="201168" cy="109728"/>
          </a:xfrm>
          <a:prstGeom prst="rightArrow">
            <a:avLst/>
          </a:prstGeom>
          <a:solidFill>
            <a:srgbClr val="C7D1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3108960" y="2286000"/>
            <a:ext cx="2395728" cy="2743200"/>
          </a:xfrm>
          <a:prstGeom prst="roundRect">
            <a:avLst>
              <a:gd name="adj" fmla="val 343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B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3995928" y="2542032"/>
            <a:ext cx="621792" cy="621792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2232" y="2688336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108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6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3246120" y="333756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Classify &amp; Prioritize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3291840" y="3794760"/>
            <a:ext cx="20299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assigns category, sentiment, priority, and screens for injection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532120" y="3602736"/>
            <a:ext cx="201168" cy="109728"/>
          </a:xfrm>
          <a:prstGeom prst="rightArrow">
            <a:avLst/>
          </a:prstGeom>
          <a:solidFill>
            <a:srgbClr val="C7D1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5760720" y="2286000"/>
            <a:ext cx="2395728" cy="2743200"/>
          </a:xfrm>
          <a:prstGeom prst="roundRect">
            <a:avLst>
              <a:gd name="adj" fmla="val 343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B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6647688" y="2542032"/>
            <a:ext cx="621792" cy="621792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3992" y="2688336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76072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6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897880" y="333756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 &amp; Draft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5943600" y="3794760"/>
            <a:ext cx="20299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pgvector retrieves KB context; Gemini drafts the reply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8183880" y="3602736"/>
            <a:ext cx="201168" cy="109728"/>
          </a:xfrm>
          <a:prstGeom prst="rightArrow">
            <a:avLst/>
          </a:prstGeom>
          <a:solidFill>
            <a:srgbClr val="C7D1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1"/>
          <p:cNvSpPr/>
          <p:nvPr/>
        </p:nvSpPr>
        <p:spPr>
          <a:xfrm>
            <a:off x="8412480" y="2286000"/>
            <a:ext cx="2395728" cy="2743200"/>
          </a:xfrm>
          <a:prstGeom prst="roundRect">
            <a:avLst>
              <a:gd name="adj" fmla="val 343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B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2"/>
          <p:cNvSpPr/>
          <p:nvPr/>
        </p:nvSpPr>
        <p:spPr>
          <a:xfrm>
            <a:off x="9299448" y="2542032"/>
            <a:ext cx="621792" cy="621792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45752" y="2688336"/>
            <a:ext cx="329184" cy="32918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841248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6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8549640" y="333756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Review Gate</a:t>
            </a:r>
            <a:endParaRPr lang="en-US" sz="1450" dirty="0"/>
          </a:p>
        </p:txBody>
      </p:sp>
      <p:sp>
        <p:nvSpPr>
          <p:cNvPr id="32" name="Text 25"/>
          <p:cNvSpPr/>
          <p:nvPr/>
        </p:nvSpPr>
        <p:spPr>
          <a:xfrm>
            <a:off x="8595360" y="3794760"/>
            <a:ext cx="20299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sensitive pauses for a reviewer before the client sees it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Petalnex — AI Automation Internship  |  AI Customer Support Automation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562356"/>
            <a:ext cx="265176" cy="265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3694176" y="1234440"/>
            <a:ext cx="1417320" cy="658368"/>
          </a:xfrm>
          <a:prstGeom prst="diamond">
            <a:avLst>
              <a:gd name="adj" fmla="val 8333"/>
            </a:avLst>
          </a:prstGeom>
          <a:solidFill>
            <a:srgbClr val="E7EDF0"/>
          </a:solidFill>
          <a:ln w="12700">
            <a:solidFill>
              <a:srgbClr val="C7D1DA"/>
            </a:solidFill>
            <a:prstDash val="solid"/>
          </a:ln>
          <a:effectLst>
            <a:outerShdw blurRad="50800" dist="12700" dir="5400000" algn="bl" rotWithShape="0">
              <a:srgbClr val="9AA7B5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364667A-2A79-DBCB-530B-1AB6E929A1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1" y="1234440"/>
            <a:ext cx="10706377" cy="532872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562356"/>
            <a:ext cx="265176" cy="265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&amp; Tools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10378440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85800" y="1545336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14400" y="12801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B76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Orchestration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2606040" y="12801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(self-hosted)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440680" y="1280160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core + AI nodes + human-in-the-loop Wait/Form node, all in one workflow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57200" y="2057400"/>
            <a:ext cx="10378440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85800" y="2322576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14400" y="20574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B76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2606040" y="20574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/ Postgres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5440680" y="2057400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storage, updates matched on id, Transaction pooler (port 6543) for reliable SSL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57200" y="2834640"/>
            <a:ext cx="10378440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85800" y="3099816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914400" y="28346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B76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 search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2606040" y="28346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+ Supabase Vector Store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5440680" y="2834640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`support_kb` table queried via the `match_support_kb` RPC function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57200" y="3611880"/>
            <a:ext cx="10378440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685800" y="3877056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914400" y="36118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B76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models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2606040" y="36118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5440680" y="3611880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model for triage / sentiment / response drafting; `gemini-embedding-001` for embeddings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457200" y="4389120"/>
            <a:ext cx="10378440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685800" y="4654296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914400" y="43891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B76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Notifications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2606040" y="43891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(SMTP / OAuth2)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5440680" y="4389120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replies, support-lead alerts, and tier-2 escalation emails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457200" y="5166360"/>
            <a:ext cx="10378440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685800" y="5431536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914400" y="51663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B76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 control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2606040" y="51663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350" dirty="0"/>
          </a:p>
        </p:txBody>
      </p:sp>
      <p:sp>
        <p:nvSpPr>
          <p:cNvPr id="34" name="Text 31"/>
          <p:cNvSpPr/>
          <p:nvPr/>
        </p:nvSpPr>
        <p:spPr>
          <a:xfrm>
            <a:off x="5440680" y="5166360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workflow JSON, documentation, and daily progress reports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Petalnex — AI Automation Internship  |  AI Customer Support Automation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562356"/>
            <a:ext cx="265176" cy="265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Stage 1 — Intake &amp; Validation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9052560" y="502920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9052560" y="50292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Core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1234440"/>
            <a:ext cx="1037844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B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731520" y="1600200"/>
            <a:ext cx="2286000" cy="822960"/>
          </a:xfrm>
          <a:prstGeom prst="roundRect">
            <a:avLst>
              <a:gd name="adj" fmla="val 6667"/>
            </a:avLst>
          </a:prstGeom>
          <a:solidFill>
            <a:srgbClr val="E7EDF0"/>
          </a:solidFill>
          <a:ln w="12700">
            <a:solidFill>
              <a:srgbClr val="C7D1DA"/>
            </a:solidFill>
            <a:prstDash val="solid"/>
          </a:ln>
          <a:effectLst>
            <a:outerShdw blurRad="50800" dist="12700" dir="5400000" algn="bl" rotWithShape="0">
              <a:srgbClr val="9AA7B5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68096" y="1600200"/>
            <a:ext cx="221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Inquiry Intake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(Form Trigger)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044952" y="1956816"/>
            <a:ext cx="228600" cy="109728"/>
          </a:xfrm>
          <a:prstGeom prst="rightArrow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300984" y="1600200"/>
            <a:ext cx="2286000" cy="822960"/>
          </a:xfrm>
          <a:prstGeom prst="roundRect">
            <a:avLst>
              <a:gd name="adj" fmla="val 6667"/>
            </a:avLst>
          </a:prstGeom>
          <a:solidFill>
            <a:srgbClr val="E7EDF0"/>
          </a:solidFill>
          <a:ln w="12700">
            <a:solidFill>
              <a:srgbClr val="C7D1DA"/>
            </a:solidFill>
            <a:prstDash val="solid"/>
          </a:ln>
          <a:effectLst>
            <a:outerShdw blurRad="50800" dist="12700" dir="5400000" algn="bl" rotWithShape="0">
              <a:srgbClr val="9AA7B5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337560" y="1600200"/>
            <a:ext cx="221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Input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(Code)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614416" y="1956816"/>
            <a:ext cx="228600" cy="109728"/>
          </a:xfrm>
          <a:prstGeom prst="rightArrow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870448" y="1600200"/>
            <a:ext cx="2286000" cy="822960"/>
          </a:xfrm>
          <a:prstGeom prst="roundRect">
            <a:avLst>
              <a:gd name="adj" fmla="val 6667"/>
            </a:avLst>
          </a:prstGeom>
          <a:solidFill>
            <a:srgbClr val="E7EDF0"/>
          </a:solidFill>
          <a:ln w="12700">
            <a:solidFill>
              <a:srgbClr val="C7D1DA"/>
            </a:solidFill>
            <a:prstDash val="solid"/>
          </a:ln>
          <a:effectLst>
            <a:outerShdw blurRad="50800" dist="12700" dir="5400000" algn="bl" rotWithShape="0">
              <a:srgbClr val="9AA7B5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907024" y="1600200"/>
            <a:ext cx="221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submission?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(IF)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183880" y="1956816"/>
            <a:ext cx="228600" cy="109728"/>
          </a:xfrm>
          <a:prstGeom prst="rightArrow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8439912" y="1600200"/>
            <a:ext cx="2286000" cy="822960"/>
          </a:xfrm>
          <a:prstGeom prst="roundRect">
            <a:avLst>
              <a:gd name="adj" fmla="val 6667"/>
            </a:avLst>
          </a:prstGeom>
          <a:solidFill>
            <a:srgbClr val="E7EDF0"/>
          </a:solidFill>
          <a:ln w="12700">
            <a:solidFill>
              <a:srgbClr val="C7D1DA"/>
            </a:solidFill>
            <a:prstDash val="solid"/>
          </a:ln>
          <a:effectLst>
            <a:outerShdw blurRad="50800" dist="12700" dir="5400000" algn="bl" rotWithShape="0">
              <a:srgbClr val="9AA7B5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476488" y="1600200"/>
            <a:ext cx="221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Creation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(Postgres Insert)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57200" y="3063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validate before AI runs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457200" y="3520440"/>
            <a:ext cx="5120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Trims and normalizes client_name, client_email, project_name, and message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Rejects a submission if the name is missing, the email fails a format check, or the message is under 15 characters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rejected submission never reaches the AI layer — it goes straight to Notify Invalid Submission instead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5806440" y="3063240"/>
            <a:ext cx="5029200" cy="3200400"/>
          </a:xfrm>
          <a:prstGeom prst="roundRect">
            <a:avLst>
              <a:gd name="adj" fmla="val 2571"/>
            </a:avLst>
          </a:prstGeom>
          <a:solidFill>
            <a:srgbClr val="E7EDF0"/>
          </a:solidFill>
          <a:ln/>
          <a:effectLst>
            <a:outerShdw blurRad="76200" dist="25400" dir="5400000" algn="bl" rotWithShape="0">
              <a:srgbClr val="9AA7B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080760" y="32461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decision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080760" y="3611880"/>
            <a:ext cx="4480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field is checked deterministically in plain code before a single Gemini call is made. Bad data is caught for free — no wasted AI spend, and no malformed record ever reaches Postgres.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Petalnex — AI Automation Internship  |  AI Customer Support Automation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562356"/>
            <a:ext cx="265176" cy="265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Classification, Sentiment &amp; Security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45720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Categories (Gemini)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57200" y="1645920"/>
            <a:ext cx="1531620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1645920"/>
            <a:ext cx="15316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Issue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135124" y="1645920"/>
            <a:ext cx="1701698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135124" y="1645920"/>
            <a:ext cx="17016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/ API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983126" y="1645920"/>
            <a:ext cx="1446581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983126" y="1645920"/>
            <a:ext cx="144658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Status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2066544"/>
            <a:ext cx="1106424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57200" y="2066544"/>
            <a:ext cx="1106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Report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709928" y="2066544"/>
            <a:ext cx="1531620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709928" y="2066544"/>
            <a:ext cx="15316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Request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387852" y="2066544"/>
            <a:ext cx="851306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3387852" y="2066544"/>
            <a:ext cx="8513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2487168"/>
            <a:ext cx="1531620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57200" y="2487168"/>
            <a:ext cx="15316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Inquiry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944368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B23A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57200" y="294436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/ Malicious Input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246120" y="294436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(override — forces High priority)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57200" y="344728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Sentiment &amp; priority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457200" y="3813048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Sentiment: Frustrated, Neutral, or Positive, plus a 0–100 sentiment_score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High, Medium, or Low, assigned alongside the category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989320" y="1234440"/>
            <a:ext cx="4846320" cy="4892040"/>
          </a:xfrm>
          <a:prstGeom prst="roundRect">
            <a:avLst>
              <a:gd name="adj" fmla="val 1698"/>
            </a:avLst>
          </a:prstGeom>
          <a:solidFill>
            <a:srgbClr val="E7EDF0"/>
          </a:solidFill>
          <a:ln/>
          <a:effectLst>
            <a:outerShdw blurRad="76200" dist="25400" dir="5400000" algn="bl" rotWithShape="0">
              <a:srgbClr val="9AA7B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6263640" y="14630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3368" y="1572768"/>
            <a:ext cx="237744" cy="237744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6858000" y="14630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Dual-layer injection &amp; XSS defense</a:t>
            </a:r>
            <a:endParaRPr lang="en-US" sz="1450" dirty="0"/>
          </a:p>
        </p:txBody>
      </p:sp>
      <p:sp>
        <p:nvSpPr>
          <p:cNvPr id="29" name="Text 25"/>
          <p:cNvSpPr/>
          <p:nvPr/>
        </p:nvSpPr>
        <p:spPr>
          <a:xfrm>
            <a:off x="6263640" y="2011680"/>
            <a:ext cx="42976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Gemini itself is prompted to scan every field for XSS tags, SQL injection, or prompt-injection patterns and set is_injection: true if found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a regex safety net independently re-checks the raw message for patterns like DROP TABLE, UNION SELECT, &lt;script&gt;, or exec(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layer alone is enough to flip category to "Security / Malicious Input" and priority to High — no single point of failure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Petalnex — AI Automation Internship  |  AI Customer Support Automation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562356"/>
            <a:ext cx="265176" cy="265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Priority Detection &amp; Ticket Update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9052560" y="502920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9052560" y="50292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&amp; Prioritize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1234440"/>
            <a:ext cx="5074920" cy="4892040"/>
          </a:xfrm>
          <a:prstGeom prst="roundRect">
            <a:avLst>
              <a:gd name="adj" fmla="val 168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B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3152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Parse &amp; Prioritize (Code)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731520" y="1874520"/>
            <a:ext cx="44805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the LLM’s JSON response defensively, matching the first {...} block and falling back to null on parse failure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Re-applies the regex injection check as a safety net, independent of what the model reported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Defaults priority to Low and category to General Inquiry only when nothing overrides them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Attaches a reasoning string to every ticket, so every triage decision is auditable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760720" y="1234440"/>
            <a:ext cx="5074920" cy="4892040"/>
          </a:xfrm>
          <a:prstGeom prst="roundRect">
            <a:avLst>
              <a:gd name="adj" fmla="val 1682"/>
            </a:avLst>
          </a:prstGeom>
          <a:solidFill>
            <a:srgbClr val="E7EDF0"/>
          </a:solidFill>
          <a:ln/>
          <a:effectLst>
            <a:outerShdw blurRad="76200" dist="25400" dir="5400000" algn="bl" rotWithShape="0">
              <a:srgbClr val="9AA7B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03504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Sync Ticket Details (Postgres Update)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6035040" y="1874520"/>
            <a:ext cx="4480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category, sentiment, priority, and the AI-suggested response back onto the same ticket row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on the ticket’s id, not client_email — safe for repeat clients with multiple open tickets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035040" y="3977640"/>
            <a:ext cx="4480560" cy="0"/>
          </a:xfrm>
          <a:prstGeom prst="line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035040" y="4069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Escalation logic (Evaluate Routing)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035040" y="43891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Escalates when ANY of these are true: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035040" y="466344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is_injection is true, or category is Security / Malicious Input</a:t>
            </a:r>
            <a:endParaRPr lang="en-US" sz="1250" dirty="0"/>
          </a:p>
          <a:p>
            <a:pPr marL="228600" indent="-2286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is High, or sentiment is Frustrated</a:t>
            </a:r>
            <a:endParaRPr lang="en-US" sz="1250" dirty="0"/>
          </a:p>
          <a:p>
            <a:pPr marL="228600" indent="-2286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is anything other than General Inquiry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Petalnex — AI Automation Internship  |  AI Customer Support Automation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562356"/>
            <a:ext cx="265176" cy="265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Knowledge-Base Retrieval (RAG)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9418320" y="50292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9418320" y="50292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Layer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40080" y="1371600"/>
            <a:ext cx="32004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D1DA"/>
            </a:solidFill>
            <a:prstDash val="solid"/>
          </a:ln>
          <a:effectLst>
            <a:outerShdw blurRad="50800" dist="12700" dir="5400000" algn="bl" rotWithShape="0">
              <a:srgbClr val="9AA7B5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76656" y="1371600"/>
            <a:ext cx="3127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&amp;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867912" y="1773936"/>
            <a:ext cx="228600" cy="109728"/>
          </a:xfrm>
          <a:prstGeom prst="rightArrow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123944" y="1371600"/>
            <a:ext cx="3200400" cy="914400"/>
          </a:xfrm>
          <a:prstGeom prst="roundRect">
            <a:avLst>
              <a:gd name="adj" fmla="val 6000"/>
            </a:avLst>
          </a:prstGeom>
          <a:solidFill>
            <a:srgbClr val="E7EDF0"/>
          </a:solidFill>
          <a:ln w="12700">
            <a:solidFill>
              <a:srgbClr val="C7D1DA"/>
            </a:solidFill>
            <a:prstDash val="solid"/>
          </a:ln>
          <a:effectLst>
            <a:outerShdw blurRad="50800" dist="12700" dir="5400000" algn="bl" rotWithShape="0">
              <a:srgbClr val="9AA7B5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160520" y="1371600"/>
            <a:ext cx="3127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Knowledge-base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(Supabase Vector Store)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351776" y="1773936"/>
            <a:ext cx="228600" cy="109728"/>
          </a:xfrm>
          <a:prstGeom prst="rightArrow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607808" y="1371600"/>
            <a:ext cx="32004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D1DA"/>
            </a:solidFill>
            <a:prstDash val="solid"/>
          </a:ln>
          <a:effectLst>
            <a:outerShdw blurRad="50800" dist="12700" dir="5400000" algn="bl" rotWithShape="0">
              <a:srgbClr val="9AA7B5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644384" y="1371600"/>
            <a:ext cx="3127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KB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57200" y="2651760"/>
            <a:ext cx="1037844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85800" y="295351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914400" y="2651760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2651760" y="2651760"/>
            <a:ext cx="7955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public.support_kb — 10 seeded Petalnex knowledge-base entries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57200" y="3474720"/>
            <a:ext cx="1037844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85800" y="377647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914400" y="3474720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2651760" y="3474720"/>
            <a:ext cx="7955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models/gemini-embedding-001, indexed at 3072 dimensions in pgvector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457200" y="4297680"/>
            <a:ext cx="1037844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685800" y="459943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914400" y="4297680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function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2651760" y="4297680"/>
            <a:ext cx="7955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match_support_kb RPC, called by n8n’s Supabase Vector Store node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457200" y="5120640"/>
            <a:ext cx="1037844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685800" y="542239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914400" y="5120640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2651760" y="5120640"/>
            <a:ext cx="7955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3 nearest KB entries returned per ticket message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Petalnex — AI Automation Internship  |  AI Customer Support Automation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562356"/>
            <a:ext cx="265176" cy="265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AI-Suggested Response Generation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9052560" y="502920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9052560" y="50292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Response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1234440"/>
            <a:ext cx="6309360" cy="4892040"/>
          </a:xfrm>
          <a:prstGeom prst="roundRect">
            <a:avLst>
              <a:gd name="adj" fmla="val 168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B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31520" y="141732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draft is written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731520" y="1874520"/>
            <a:ext cx="56692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300"/>
              </a:spcAft>
              <a:buSzPct val="100000"/>
              <a:buChar char="▪"/>
            </a:pPr>
            <a:r>
              <a:rPr lang="en-US" sz="135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is given the client message, category, injection flag, and the retrieved KB context together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300"/>
              </a:spcAft>
              <a:buSzPct val="100000"/>
              <a:buChar char="▪"/>
            </a:pPr>
            <a:r>
              <a:rPr lang="en-US" sz="135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KB context covers the question, it drafts a concise, friendly resolution grounded in that context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300"/>
              </a:spcAft>
              <a:buSzPct val="100000"/>
              <a:buChar char="▪"/>
            </a:pPr>
            <a:r>
              <a:rPr lang="en-US" sz="135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KB doesn’t cover it, the model acknowledges the message and says a specialist is reviewing — it never invents an answer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300"/>
              </a:spcAft>
              <a:buSzPct val="100000"/>
              <a:buChar char="▪"/>
            </a:pPr>
            <a:r>
              <a:rPr lang="en-US" sz="135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required to be plain text only, never JSON, so it can be dropped straight into an email body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949440" y="1234440"/>
            <a:ext cx="3886200" cy="4892040"/>
          </a:xfrm>
          <a:prstGeom prst="roundRect">
            <a:avLst>
              <a:gd name="adj" fmla="val 2118"/>
            </a:avLst>
          </a:prstGeom>
          <a:solidFill>
            <a:srgbClr val="B23A4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1463040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35240" y="1463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injection is detected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223760" y="2011680"/>
            <a:ext cx="3337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CE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instructed to skip a normal reply entirely and output a fixed warning instead — it never echoes or engages with the malicious payload: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223760" y="3429000"/>
            <a:ext cx="3337560" cy="2423160"/>
          </a:xfrm>
          <a:prstGeom prst="roundRect">
            <a:avLst>
              <a:gd name="adj" fmla="val 2264"/>
            </a:avLst>
          </a:prstGeom>
          <a:solidFill>
            <a:srgbClr val="141A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7406640" y="3611880"/>
            <a:ext cx="29718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"WARNING: The client is attempting to inject scripts or malicious SQL payload. Do not execute or copy unchecked parameters."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Petalnex — AI Automation Internship  |  AI Customer Support Automation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562356"/>
            <a:ext cx="265176" cy="265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Review Gate &amp; Decision Routing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234440"/>
            <a:ext cx="5074920" cy="4892040"/>
          </a:xfrm>
          <a:prstGeom prst="roundRect">
            <a:avLst>
              <a:gd name="adj" fmla="val 168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B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3152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Requires Human Escalation? (IF)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31520" y="1874520"/>
            <a:ext cx="4480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risk, High priority, Frustrated sentiment, or any non-General category → routed to a human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auto-resolves with no human involved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31520" y="342900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31520" y="342900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Auto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31520" y="3840480"/>
            <a:ext cx="1920240" cy="566928"/>
          </a:xfrm>
          <a:prstGeom prst="roundRect">
            <a:avLst>
              <a:gd name="adj" fmla="val 9677"/>
            </a:avLst>
          </a:prstGeom>
          <a:solidFill>
            <a:srgbClr val="E7EDF0"/>
          </a:solidFill>
          <a:ln w="12700">
            <a:solidFill>
              <a:srgbClr val="C7D1DA"/>
            </a:solidFill>
            <a:prstDash val="solid"/>
          </a:ln>
          <a:effectLst>
            <a:outerShdw blurRad="50800" dist="12700" dir="5400000" algn="bl" rotWithShape="0">
              <a:srgbClr val="9AA7B5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68096" y="3840480"/>
            <a:ext cx="1847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Auto-Reply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688336" y="4069080"/>
            <a:ext cx="192024" cy="109728"/>
          </a:xfrm>
          <a:prstGeom prst="rightArrow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2898648" y="3840480"/>
            <a:ext cx="1874520" cy="566928"/>
          </a:xfrm>
          <a:prstGeom prst="roundRect">
            <a:avLst>
              <a:gd name="adj" fmla="val 9677"/>
            </a:avLst>
          </a:prstGeom>
          <a:solidFill>
            <a:srgbClr val="E7EDF0"/>
          </a:solidFill>
          <a:ln w="12700">
            <a:solidFill>
              <a:srgbClr val="C7D1DA"/>
            </a:solidFill>
            <a:prstDash val="solid"/>
          </a:ln>
          <a:effectLst>
            <a:outerShdw blurRad="50800" dist="12700" dir="5400000" algn="bl" rotWithShape="0">
              <a:srgbClr val="9AA7B5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2935224" y="3840480"/>
            <a:ext cx="1801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Auto-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760720" y="1234440"/>
            <a:ext cx="5074920" cy="4892040"/>
          </a:xfrm>
          <a:prstGeom prst="roundRect">
            <a:avLst>
              <a:gd name="adj" fmla="val 1682"/>
            </a:avLst>
          </a:prstGeom>
          <a:solidFill>
            <a:srgbClr val="E7EDF0"/>
          </a:solidFill>
          <a:ln/>
          <a:effectLst>
            <a:outerShdw blurRad="76200" dist="25400" dir="5400000" algn="bl" rotWithShape="0">
              <a:srgbClr val="9AA7B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03504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Yes — Human Escalation Form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035040" y="1874520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Support Lead sends the full ticket context plus the AI-drafted reply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n8n Wait node opens a resumable review form and pauses the workflow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035040" y="33375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picks one of three decisions: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035040" y="3657600"/>
            <a:ext cx="14173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C7D1DA"/>
            </a:solidFill>
            <a:prstDash val="solid"/>
          </a:ln>
          <a:effectLst>
            <a:outerShdw blurRad="50800" dist="12700" dir="5400000" algn="bl" rotWithShape="0">
              <a:srgbClr val="9AA7B5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071616" y="3657600"/>
            <a:ext cx="1344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Suggested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543800" y="3657600"/>
            <a:ext cx="14173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C7D1DA"/>
            </a:solidFill>
            <a:prstDash val="solid"/>
          </a:ln>
          <a:effectLst>
            <a:outerShdw blurRad="50800" dist="12700" dir="5400000" algn="bl" rotWithShape="0">
              <a:srgbClr val="9AA7B5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580376" y="3657600"/>
            <a:ext cx="1344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and Send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9052560" y="3657600"/>
            <a:ext cx="14173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C7D1DA"/>
            </a:solidFill>
            <a:prstDash val="solid"/>
          </a:ln>
          <a:effectLst>
            <a:outerShdw blurRad="50800" dist="12700" dir="5400000" algn="bl" rotWithShape="0">
              <a:srgbClr val="9AA7B5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9089136" y="3657600"/>
            <a:ext cx="1344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to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035040" y="457200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also captures the reviewer’s name, an edited response (if applicable), and free-text review notes.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Petalnex — AI Automation Internship  |  AI Customer Support Automation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562356"/>
            <a:ext cx="265176" cy="265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Escalation Outcomes &amp; Notifications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8732520" y="50292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732520" y="5029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Human Decision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1280160"/>
            <a:ext cx="3337560" cy="31089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57200" y="1280160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Suggested Response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1737360"/>
            <a:ext cx="33375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C7D1DA"/>
            </a:solidFill>
            <a:prstDash val="solid"/>
          </a:ln>
          <a:effectLst>
            <a:outerShdw blurRad="50800" dist="12700" dir="5400000" algn="bl" rotWithShape="0">
              <a:srgbClr val="9AA7B5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93776" y="1737360"/>
            <a:ext cx="3264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Approved Reply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071116" y="2487168"/>
            <a:ext cx="109728" cy="210312"/>
          </a:xfrm>
          <a:prstGeom prst="downArrow">
            <a:avLst/>
          </a:prstGeom>
          <a:solidFill>
            <a:srgbClr val="C7D1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57200" y="2715768"/>
            <a:ext cx="3337560" cy="594360"/>
          </a:xfrm>
          <a:prstGeom prst="roundRect">
            <a:avLst>
              <a:gd name="adj" fmla="val 9231"/>
            </a:avLst>
          </a:prstGeom>
          <a:solidFill>
            <a:srgbClr val="E7EDF0"/>
          </a:solidFill>
          <a:ln w="12700">
            <a:solidFill>
              <a:srgbClr val="C7D1DA"/>
            </a:solidFill>
            <a:prstDash val="solid"/>
          </a:ln>
          <a:effectLst>
            <a:outerShdw blurRad="50800" dist="12700" dir="5400000" algn="bl" rotWithShape="0">
              <a:srgbClr val="9AA7B5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93776" y="2715768"/>
            <a:ext cx="3264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Approved Client Email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071116" y="3328416"/>
            <a:ext cx="109728" cy="237744"/>
          </a:xfrm>
          <a:prstGeom prst="downArrow">
            <a:avLst/>
          </a:prstGeom>
          <a:solidFill>
            <a:srgbClr val="C7D1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3977640" y="1280160"/>
            <a:ext cx="3337560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3977640" y="1280160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and Send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977640" y="1737360"/>
            <a:ext cx="33375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C7D1DA"/>
            </a:solidFill>
            <a:prstDash val="solid"/>
          </a:ln>
          <a:effectLst>
            <a:outerShdw blurRad="50800" dist="12700" dir="5400000" algn="bl" rotWithShape="0">
              <a:srgbClr val="9AA7B5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014216" y="1737360"/>
            <a:ext cx="3264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Edited Reply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(uses reviewer’s text)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591556" y="2487168"/>
            <a:ext cx="109728" cy="210312"/>
          </a:xfrm>
          <a:prstGeom prst="downArrow">
            <a:avLst/>
          </a:prstGeom>
          <a:solidFill>
            <a:srgbClr val="C7D1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3977640" y="2715768"/>
            <a:ext cx="3337560" cy="594360"/>
          </a:xfrm>
          <a:prstGeom prst="roundRect">
            <a:avLst>
              <a:gd name="adj" fmla="val 9231"/>
            </a:avLst>
          </a:prstGeom>
          <a:solidFill>
            <a:srgbClr val="E7EDF0"/>
          </a:solidFill>
          <a:ln w="12700">
            <a:solidFill>
              <a:srgbClr val="C7D1DA"/>
            </a:solidFill>
            <a:prstDash val="solid"/>
          </a:ln>
          <a:effectLst>
            <a:outerShdw blurRad="50800" dist="12700" dir="5400000" algn="bl" rotWithShape="0">
              <a:srgbClr val="9AA7B5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014216" y="2715768"/>
            <a:ext cx="3264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Edited Client Email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591556" y="3328416"/>
            <a:ext cx="109728" cy="237744"/>
          </a:xfrm>
          <a:prstGeom prst="downArrow">
            <a:avLst/>
          </a:prstGeom>
          <a:solidFill>
            <a:srgbClr val="C7D1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7498080" y="1280160"/>
            <a:ext cx="3337560" cy="310896"/>
          </a:xfrm>
          <a:prstGeom prst="roundRect">
            <a:avLst>
              <a:gd name="adj" fmla="val 50000"/>
            </a:avLst>
          </a:prstGeom>
          <a:solidFill>
            <a:srgbClr val="B23A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7498080" y="1280160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to Team Lead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7498080" y="1737360"/>
            <a:ext cx="33375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C7D1DA"/>
            </a:solidFill>
            <a:prstDash val="solid"/>
          </a:ln>
          <a:effectLst>
            <a:outerShdw blurRad="50800" dist="12700" dir="5400000" algn="bl" rotWithShape="0">
              <a:srgbClr val="9AA7B5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7534656" y="1737360"/>
            <a:ext cx="3264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Tier-2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9111996" y="2487168"/>
            <a:ext cx="109728" cy="210312"/>
          </a:xfrm>
          <a:prstGeom prst="downArrow">
            <a:avLst/>
          </a:prstGeom>
          <a:solidFill>
            <a:srgbClr val="C7D1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7498080" y="2715768"/>
            <a:ext cx="3337560" cy="594360"/>
          </a:xfrm>
          <a:prstGeom prst="roundRect">
            <a:avLst>
              <a:gd name="adj" fmla="val 9231"/>
            </a:avLst>
          </a:prstGeom>
          <a:solidFill>
            <a:srgbClr val="E7EDF0"/>
          </a:solidFill>
          <a:ln w="12700">
            <a:solidFill>
              <a:srgbClr val="C7D1DA"/>
            </a:solidFill>
            <a:prstDash val="solid"/>
          </a:ln>
          <a:effectLst>
            <a:outerShdw blurRad="50800" dist="12700" dir="5400000" algn="bl" rotWithShape="0">
              <a:srgbClr val="9AA7B5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7534656" y="2715768"/>
            <a:ext cx="3264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Tier-2 Lead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9111996" y="3328416"/>
            <a:ext cx="109728" cy="237744"/>
          </a:xfrm>
          <a:prstGeom prst="downArrow">
            <a:avLst/>
          </a:prstGeom>
          <a:solidFill>
            <a:srgbClr val="C7D1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457200" y="3611880"/>
            <a:ext cx="10378440" cy="594360"/>
          </a:xfrm>
          <a:prstGeom prst="roundRect">
            <a:avLst>
              <a:gd name="adj" fmla="val 13846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9AA7B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457200" y="3611880"/>
            <a:ext cx="10378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 Escalated Ticket  (Postgres — records reviewer, decision &amp; notes)</a:t>
            </a:r>
            <a:endParaRPr lang="en-US" sz="1350" dirty="0"/>
          </a:p>
        </p:txBody>
      </p:sp>
      <p:sp>
        <p:nvSpPr>
          <p:cNvPr id="33" name="Text 30"/>
          <p:cNvSpPr/>
          <p:nvPr/>
        </p:nvSpPr>
        <p:spPr>
          <a:xfrm>
            <a:off x="457200" y="4480560"/>
            <a:ext cx="10378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decision paths converge on one Postgres update — closing the loop with exactly what the reviewer decided and why.</a:t>
            </a:r>
            <a:endParaRPr lang="en-US" sz="1350" dirty="0"/>
          </a:p>
        </p:txBody>
      </p:sp>
      <p:sp>
        <p:nvSpPr>
          <p:cNvPr id="34" name="Text 31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Petalnex — AI Automation Internship  |  AI Customer Support Automation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562356"/>
            <a:ext cx="265176" cy="265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Walkthrough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103784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B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31520" y="162763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31520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371600" y="153619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 1: Routine billing question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371600" y="1938528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Auto-classified as low-risk → KB-grounded reply drafted → sent automatically. No human touches this ticket.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2944368"/>
            <a:ext cx="103784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B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31520" y="32004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3152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371600" y="3108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 2: Frustrated, high-priority bug report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1371600" y="3511296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Escalated → support lead notified with full context → reviewer approves or edits in the form → client email sent.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7200" y="4517136"/>
            <a:ext cx="103784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B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731520" y="4773168"/>
            <a:ext cx="457200" cy="457200"/>
          </a:xfrm>
          <a:prstGeom prst="ellipse">
            <a:avLst/>
          </a:prstGeom>
          <a:solidFill>
            <a:srgbClr val="B23A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31520" y="4773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371600" y="468172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 3: Malicious payload in the message field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1371600" y="5084064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Security / Malicious Input by both AI and regex → generic safe warning drafted → forced to Team Lead. Never treated as a normal question.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Petalnex — AI Automation Internship  |  AI Customer Support Automation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562356"/>
            <a:ext cx="265176" cy="265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Handling &amp; Reliability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5074920" cy="1965960"/>
          </a:xfrm>
          <a:prstGeom prst="roundRect">
            <a:avLst>
              <a:gd name="adj" fmla="val 4186"/>
            </a:avLst>
          </a:prstGeom>
          <a:solidFill>
            <a:srgbClr val="E7EDF0"/>
          </a:solidFill>
          <a:ln/>
          <a:effectLst>
            <a:outerShdw blurRad="76200" dist="25400" dir="5400000" algn="bl" rotWithShape="0">
              <a:srgbClr val="9AA7B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31520" y="150876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 before spending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31520" y="1965960"/>
            <a:ext cx="4526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deterministic gate in Normalize Input rejects bad submissions before any AI call is made — no wasted Gemini spend on data that was never going to be usable.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806440" y="1325880"/>
            <a:ext cx="5074920" cy="1965960"/>
          </a:xfrm>
          <a:prstGeom prst="roundRect">
            <a:avLst>
              <a:gd name="adj" fmla="val 4186"/>
            </a:avLst>
          </a:prstGeom>
          <a:solidFill>
            <a:srgbClr val="E7EDF0"/>
          </a:solidFill>
          <a:ln/>
          <a:effectLst>
            <a:outerShdw blurRad="76200" dist="25400" dir="5400000" algn="bl" rotWithShape="0">
              <a:srgbClr val="9AA7B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080760" y="150876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single point of failure on security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080760" y="1965960"/>
            <a:ext cx="4526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regex safety net independently re-checks for injection patterns, so a security classification never rests on the LLM’s judgment alone.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3566160"/>
            <a:ext cx="5074920" cy="1965960"/>
          </a:xfrm>
          <a:prstGeom prst="roundRect">
            <a:avLst>
              <a:gd name="adj" fmla="val 4186"/>
            </a:avLst>
          </a:prstGeom>
          <a:solidFill>
            <a:srgbClr val="E7EDF0"/>
          </a:solidFill>
          <a:ln/>
          <a:effectLst>
            <a:outerShdw blurRad="76200" dist="25400" dir="5400000" algn="bl" rotWithShape="0">
              <a:srgbClr val="9AA7B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31520" y="374904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Defensive JSON parsing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731520" y="4206240"/>
            <a:ext cx="4526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&amp; Prioritize extracts the LLM’s JSON with a regex match and a try/catch, falling back to safe defaults instead of crashing the run on a malformed response.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806440" y="3566160"/>
            <a:ext cx="5074920" cy="1965960"/>
          </a:xfrm>
          <a:prstGeom prst="roundRect">
            <a:avLst>
              <a:gd name="adj" fmla="val 4186"/>
            </a:avLst>
          </a:prstGeom>
          <a:solidFill>
            <a:srgbClr val="E7EDF0"/>
          </a:solidFill>
          <a:ln/>
          <a:effectLst>
            <a:outerShdw blurRad="76200" dist="25400" dir="5400000" algn="bl" rotWithShape="0">
              <a:srgbClr val="9AA7B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080760" y="374904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Safe, targeted updates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6080760" y="4206240"/>
            <a:ext cx="4526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Postgres update is matched on the ticket’s id, never on client_email — so concurrent tickets from the same client can’t overwrite each other.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Petalnex — AI Automation Internship  |  AI Customer Support Automation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562356"/>
            <a:ext cx="265176" cy="265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Credential Management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234440"/>
            <a:ext cx="5074920" cy="4892040"/>
          </a:xfrm>
          <a:prstGeom prst="roundRect">
            <a:avLst>
              <a:gd name="adj" fmla="val 168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B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3152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&amp; content safety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31520" y="1874520"/>
            <a:ext cx="4480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checks (Gemini + regex) before a message is trusted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Injection-flagged tickets never get a "helpful" AI answer — only a fixed warning, and they’re force-routed to a human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never allowed to auto-send on a flagged ticket — the review gate is mandatory for anything suspicious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760720" y="1234440"/>
            <a:ext cx="5074920" cy="4892040"/>
          </a:xfrm>
          <a:prstGeom prst="roundRect">
            <a:avLst>
              <a:gd name="adj" fmla="val 1682"/>
            </a:avLst>
          </a:prstGeom>
          <a:solidFill>
            <a:srgbClr val="E7EDF0"/>
          </a:solidFill>
          <a:ln/>
          <a:effectLst>
            <a:outerShdw blurRad="76200" dist="25400" dir="5400000" algn="bl" rotWithShape="0">
              <a:srgbClr val="9AA7B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03504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credentials live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035040" y="1874520"/>
            <a:ext cx="44805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(SMTP / OAuth2), Supabase, and the Gemini API key are all stored in n8n’s built-in credential store — never hardcoded inside a node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connects over the Transaction pooler (port 6543) for a reliable SSL chain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 on support_kb are granted explicitly to anon / authenticated / service_role, with row-level security disabled only on that KB table — not the ticket data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Petalnex — AI Automation Internship  |  AI Customer Support Automation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562356"/>
            <a:ext cx="265176" cy="265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Benefits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50749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B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13232" y="1581912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1691640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25880" y="1545336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 response for routine tickets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731520" y="219456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inquiries auto-resolve immediately — no waiting on a human at all.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806440" y="1325880"/>
            <a:ext cx="50749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B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6062472" y="1581912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691640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675120" y="1545336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Consistent triage, every time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6080760" y="219456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Category, sentiment, and priority no longer depend on who reads the ticket first.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457200" y="3566160"/>
            <a:ext cx="50749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B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713232" y="3822192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931920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25880" y="3785616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reused automatically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731520" y="443484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answers are retrieved and drafted into replies instead of being re-typed by hand.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5806440" y="3566160"/>
            <a:ext cx="50749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B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6062472" y="3822192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3931920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675120" y="3785616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attention where it matters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6080760" y="443484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Reviewers only see tickets that are actually risky, urgent, frustrated, or complex.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Petalnex — AI Automation Internship  |  AI Customer Support Automation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562356"/>
            <a:ext cx="265176" cy="265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Future Improvements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234440"/>
            <a:ext cx="5074920" cy="4892040"/>
          </a:xfrm>
          <a:prstGeom prst="roundRect">
            <a:avLst>
              <a:gd name="adj" fmla="val 168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B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31520" y="1417320"/>
            <a:ext cx="457200" cy="457200"/>
          </a:xfrm>
          <a:prstGeom prst="ellipse">
            <a:avLst/>
          </a:prstGeom>
          <a:solidFill>
            <a:srgbClr val="B23A4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527048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25880" y="14173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limitations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731520" y="1965960"/>
            <a:ext cx="4480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set of 7 categories plus one security override — doesn’t adapt to new ticket types on its own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Single-channel intake — only the form trigger, no email/Slack/WhatsApp yet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3 retrieval can miss an edge-case KB entry on ambiguous questions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and replies are English-only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760720" y="1234440"/>
            <a:ext cx="5074920" cy="4892040"/>
          </a:xfrm>
          <a:prstGeom prst="roundRect">
            <a:avLst>
              <a:gd name="adj" fmla="val 1682"/>
            </a:avLst>
          </a:prstGeom>
          <a:solidFill>
            <a:srgbClr val="E7EDF0"/>
          </a:solidFill>
          <a:ln/>
          <a:effectLst>
            <a:outerShdw blurRad="76200" dist="25400" dir="5400000" algn="bl" rotWithShape="0">
              <a:srgbClr val="9AA7B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6035040" y="141732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4768" y="1527048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629400" y="141732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improvements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6035040" y="1965960"/>
            <a:ext cx="4480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Multi-channel intake (email, Slack, WhatsApp) feeding the same core pipeline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timers with auto-escalation if a human review sits too long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analytics dashboard on category, sentiment, and escalation trends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34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KB coverage and tuning Top-K for stronger retrieval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Petalnex — AI Automation Internship  |  AI Customer Support Automation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1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206240" cy="42062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875520" y="4114800"/>
            <a:ext cx="3291840" cy="32918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21031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29718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Live Demo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41248" y="41148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4215384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81328" y="41148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github.com/SajeelALi2023632/petalnex-ai-automation-internship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6035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Sajeel Ali  ·  Petalnex AI Automation Internship  ·  Day 36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2078</Words>
  <Application>Microsoft Office PowerPoint</Application>
  <PresentationFormat>Widescreen</PresentationFormat>
  <Paragraphs>270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u2023632</cp:lastModifiedBy>
  <cp:revision>2</cp:revision>
  <dcterms:created xsi:type="dcterms:W3CDTF">2026-08-22T06:01:51Z</dcterms:created>
  <dcterms:modified xsi:type="dcterms:W3CDTF">2026-08-22T06:32:37Z</dcterms:modified>
</cp:coreProperties>
</file>