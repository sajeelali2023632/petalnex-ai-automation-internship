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1338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SUPPORT AUTOMATION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ticket triage, AI-drafted responses, and a human review gate — built end-to-end in n8n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416052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AI Automation Internship — Final Capstone 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Sajeel Ali   ·   Day 36 — Final Presentation &amp; Demo 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is a project-based software, AI, and digital-services company — every client engagement generates a steady stream of support requests spanning technical issues, integrations, billing, and project-status questions.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consistent triage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6207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is read and categorized manually — quality depends on who happens to pick it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22402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systematic reuse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80760" y="286207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already documented internally aren’t surfaced automatically; agents re-derive the same solutions.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4805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risk-based routing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510235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frustrated, or sensitive tickets get no priority over routine ones.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44805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input screening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80760" y="510235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checks a submission for malicious content before a human or system acts on it.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Process (Manual)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emails or messages a request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8036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</p:sp>
      <p:sp>
        <p:nvSpPr>
          <p:cNvPr id="8" name="Shape 5"/>
          <p:cNvSpPr/>
          <p:nvPr/>
        </p:nvSpPr>
        <p:spPr>
          <a:xfrm>
            <a:off x="310896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4553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 reads it manually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9729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searches docs / memory for a fix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4905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drafts and sends a reply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this creates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10378440" cy="2651760"/>
          </a:xfrm>
          <a:prstGeom prst="roundRect">
            <a:avLst>
              <a:gd name="adj" fmla="val 3103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520440"/>
            <a:ext cx="9784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first response — tickets wait in a shared inbox until someone is free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categorization and priority, since it depends entirely on the reader’s judgment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dependency — the best answer often lives in one person’s memory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screening — malicious or malformed input is treated the same as a normal question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n8n workflow that validates, classifies, retrieves, and drafts a reply automatically — and routes anything sensitive to a human before it ever reaches the client.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4416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6883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Store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and validate the submission before it costs anything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8036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</p:sp>
      <p:sp>
        <p:nvSpPr>
          <p:cNvPr id="13" name="Shape 9"/>
          <p:cNvSpPr/>
          <p:nvPr/>
        </p:nvSpPr>
        <p:spPr>
          <a:xfrm>
            <a:off x="310896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99592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68833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4612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&amp; Prioritize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29184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assigns category, sentiment, priority, and screens for injection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212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</p:sp>
      <p:sp>
        <p:nvSpPr>
          <p:cNvPr id="20" name="Shape 15"/>
          <p:cNvSpPr/>
          <p:nvPr/>
        </p:nvSpPr>
        <p:spPr>
          <a:xfrm>
            <a:off x="576072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768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68833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89788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Draft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94360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pgvector retrieves KB context; Gemini drafts the reply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18388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</p:sp>
      <p:sp>
        <p:nvSpPr>
          <p:cNvPr id="27" name="Shape 21"/>
          <p:cNvSpPr/>
          <p:nvPr/>
        </p:nvSpPr>
        <p:spPr>
          <a:xfrm>
            <a:off x="841248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99448" y="2542032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268833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124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54964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59536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sensitive pauses for a reviewer before the client sees it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" y="12344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92808" y="1508760"/>
            <a:ext cx="16459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8" name="Shape 5"/>
          <p:cNvSpPr/>
          <p:nvPr/>
        </p:nvSpPr>
        <p:spPr>
          <a:xfrm>
            <a:off x="2075688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12264" y="12344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11296" y="1508760"/>
            <a:ext cx="16459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3694176" y="1234440"/>
            <a:ext cx="1417320" cy="658368"/>
          </a:xfrm>
          <a:prstGeom prst="diamond">
            <a:avLst>
              <a:gd name="adj" fmla="val 8333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12344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29784" y="1508760"/>
            <a:ext cx="16459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5312664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49240" y="12344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22592" y="1307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Notify Invalid Submission (email)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43400" y="1892808"/>
            <a:ext cx="109728" cy="301752"/>
          </a:xfrm>
          <a:prstGeom prst="downArrow">
            <a:avLst/>
          </a:prstGeom>
          <a:solidFill>
            <a:srgbClr val="028090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21488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3776" y="21488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83664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1" name="Shape 18"/>
          <p:cNvSpPr/>
          <p:nvPr/>
        </p:nvSpPr>
        <p:spPr>
          <a:xfrm>
            <a:off x="2020824" y="214884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57400" y="2148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401568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4" name="Shape 21"/>
          <p:cNvSpPr/>
          <p:nvPr/>
        </p:nvSpPr>
        <p:spPr>
          <a:xfrm>
            <a:off x="3538728" y="21488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575304" y="21488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(pgvector)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965192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7" name="Shape 24"/>
          <p:cNvSpPr/>
          <p:nvPr/>
        </p:nvSpPr>
        <p:spPr>
          <a:xfrm>
            <a:off x="5102352" y="214884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138928" y="2148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83096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0" name="Shape 27"/>
          <p:cNvSpPr/>
          <p:nvPr/>
        </p:nvSpPr>
        <p:spPr>
          <a:xfrm>
            <a:off x="6620256" y="21488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656832" y="21488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046720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3" name="Shape 30"/>
          <p:cNvSpPr/>
          <p:nvPr/>
        </p:nvSpPr>
        <p:spPr>
          <a:xfrm>
            <a:off x="8183880" y="214884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220456" y="21488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473184" y="2423160"/>
            <a:ext cx="11887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6" name="Shape 33"/>
          <p:cNvSpPr/>
          <p:nvPr/>
        </p:nvSpPr>
        <p:spPr>
          <a:xfrm>
            <a:off x="9610344" y="21488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646920" y="21488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Ticket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1110996" y="2807208"/>
            <a:ext cx="109728" cy="30175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9" name="Text 36"/>
          <p:cNvSpPr/>
          <p:nvPr/>
        </p:nvSpPr>
        <p:spPr>
          <a:xfrm>
            <a:off x="1325880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Human Escalation?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" y="352044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93776" y="35204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Auto-Reply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212848" y="3749040"/>
            <a:ext cx="256032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43" name="Shape 40"/>
          <p:cNvSpPr/>
          <p:nvPr/>
        </p:nvSpPr>
        <p:spPr>
          <a:xfrm>
            <a:off x="2487168" y="35204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523744" y="352044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Auto-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" y="31912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31912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Auto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892040" y="319125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8" name="Text 45"/>
          <p:cNvSpPr/>
          <p:nvPr/>
        </p:nvSpPr>
        <p:spPr>
          <a:xfrm>
            <a:off x="4892040" y="31912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Escalate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892040" y="352044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928616" y="35204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Lead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464808" y="3749040"/>
            <a:ext cx="237744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52" name="Shape 49"/>
          <p:cNvSpPr/>
          <p:nvPr/>
        </p:nvSpPr>
        <p:spPr>
          <a:xfrm>
            <a:off x="6720840" y="35204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6757416" y="352044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Form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430768" y="3749040"/>
            <a:ext cx="237744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55" name="Shape 52"/>
          <p:cNvSpPr/>
          <p:nvPr/>
        </p:nvSpPr>
        <p:spPr>
          <a:xfrm>
            <a:off x="8686800" y="35204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8723376" y="3520440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Human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934456" y="4178808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58" name="Shape 55"/>
          <p:cNvSpPr/>
          <p:nvPr/>
        </p:nvSpPr>
        <p:spPr>
          <a:xfrm>
            <a:off x="5257800" y="44348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5294376" y="44348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Send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Email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7626096" y="4178808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61" name="Shape 58"/>
          <p:cNvSpPr/>
          <p:nvPr/>
        </p:nvSpPr>
        <p:spPr>
          <a:xfrm>
            <a:off x="6949440" y="44348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6986016" y="44348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Send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Email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9317736" y="4178808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64" name="Shape 61"/>
          <p:cNvSpPr/>
          <p:nvPr/>
        </p:nvSpPr>
        <p:spPr>
          <a:xfrm>
            <a:off x="8641080" y="44348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8677656" y="44348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→ Notify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Lead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9409176" y="4178808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67" name="Shape 64"/>
          <p:cNvSpPr/>
          <p:nvPr/>
        </p:nvSpPr>
        <p:spPr>
          <a:xfrm>
            <a:off x="6629400" y="5394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6665976" y="539496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Escalated Ticket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934456" y="5001768"/>
            <a:ext cx="109728" cy="37490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70" name="Shape 67"/>
          <p:cNvSpPr/>
          <p:nvPr/>
        </p:nvSpPr>
        <p:spPr>
          <a:xfrm>
            <a:off x="7626096" y="5001768"/>
            <a:ext cx="109728" cy="37490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71" name="Shape 68"/>
          <p:cNvSpPr/>
          <p:nvPr/>
        </p:nvSpPr>
        <p:spPr>
          <a:xfrm>
            <a:off x="9317736" y="5001768"/>
            <a:ext cx="109728" cy="37490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72" name="Text 69"/>
          <p:cNvSpPr/>
          <p:nvPr/>
        </p:nvSpPr>
        <p:spPr>
          <a:xfrm>
            <a:off x="4572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(gray) • AI / RAG layer (white, Gemini + pgvector) • Human-in-the-loop (teal / mint)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060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40680" y="1280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+ AI nodes + human-in-the-loop Wait/Form node, all in one workflow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60604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40680" y="20574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storage, updates matched on id, Transaction pooler (port 6543) for reliable SSL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30998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60604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Supabase Vector Store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0680" y="28346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`support_kb` table queried via the `match_support_kb` RPC function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38770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611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60604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for triage / sentiment / response drafting; `gemini-embedding-001` for embeddings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685800" y="46542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260604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(SMTP / OAuth2)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40680" y="43891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replies, support-lead alerts, and tier-2 escalation emails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516636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85800" y="543153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" y="5166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26060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440680" y="51663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JSON, documentation, and daily progress reports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Stage 1 — Intake &amp; Validation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0378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Intake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 Trigger)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44952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3300984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37560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14416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70448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07024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submission?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83880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7" name="Shape 14"/>
          <p:cNvSpPr/>
          <p:nvPr/>
        </p:nvSpPr>
        <p:spPr>
          <a:xfrm>
            <a:off x="8439912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76488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 Insert)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validate before AI runs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" y="35204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and normalizes client_name, client_email, project_name, and message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 submission if the name is missing, the email fails a format check, or the message is under 15 characters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submission never reaches the AI layer — it goes straight to Notify Invalid Submission instead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806440" y="3063240"/>
            <a:ext cx="5029200" cy="3200400"/>
          </a:xfrm>
          <a:prstGeom prst="roundRect">
            <a:avLst>
              <a:gd name="adj" fmla="val 2571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807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80760" y="36118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checked deterministically in plain code before a single Gemini call is made. Bad data is caught for free — no wasted AI spend, and no malformed record ever reaches Postgres.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Classification, Sentiment &amp; Security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(Gemini)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45920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35124" y="1645920"/>
            <a:ext cx="1701698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2135124" y="1645920"/>
            <a:ext cx="1701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API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83126" y="1645920"/>
            <a:ext cx="1446581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3983126" y="1645920"/>
            <a:ext cx="14465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66544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66544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709928" y="2066544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1709928" y="2066544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87852" y="2066544"/>
            <a:ext cx="851306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3387852" y="2066544"/>
            <a:ext cx="851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487168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487168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94436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29443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Malicious Input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46120" y="2944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(override — forces High priority)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34472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priority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3813048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Frustrated, Neutral, or Positive, plus a 0–100 sentiment_score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High, Medium, or Low, assigned alongside the category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1234440"/>
            <a:ext cx="4846320" cy="4892040"/>
          </a:xfrm>
          <a:prstGeom prst="roundRect">
            <a:avLst>
              <a:gd name="adj" fmla="val 1698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7276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580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Dual-layer injection &amp; XSS defense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6263640" y="2011680"/>
            <a:ext cx="4297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Gemini itself is prompted to scan every field for XSS tags, SQL injection, or prompt-injection patterns and set is_injection: true if found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 regex safety net independently re-checks the raw message for patterns like DROP TABLE, UNION SELECT, &lt;script&gt;, or exec(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layer alone is enough to flip category to "Security / Malicious Input" and priority to High — no single point of failure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Detection &amp; Ticket Update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Prioritize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&amp; Prioritize (Code)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LLM’s JSON response defensively, matching the first {...} block and falling back to null on parse failure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Re-applies the regex injection check as a safety net, independent of what the model reported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priority to Low and category to General Inquiry only when nothing overrides them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reasoning string to every ticket, so every triage decision is auditable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Ticket Details (Postgres Update)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35040" y="18745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category, sentiment, priority, and the AI-suggested response back onto the same ticket row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the ticket’s id, not client_email — safe for repeat clients with multiple open tickets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4480560" cy="0"/>
          </a:xfrm>
          <a:prstGeom prst="line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60350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logic (Evaluate Routing)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when ANY of these are true: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46634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is_injection is true, or category is Security / Malicious Input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High, or sentiment is Frustrated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anything other than General Inquiry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Knowledge-Base Retrieval (RAG)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41832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41832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867912" y="177393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123944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0520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Vector Store)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51776" y="177393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7607808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44384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953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6517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51760" y="265176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public.support_kb — 10 seeded Petalnex knowledge-base entries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7764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47472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651760" y="347472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models/gemini-embedding-001, indexed at 3072 dimensions in pgvector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45994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42976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function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651760" y="429768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match_support_kb RPC, called by n8n’s Supabase Vector Store node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12064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51206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51760" y="512064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3 nearest KB entries returned per ticket message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AI-Suggested Response Generation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Response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630936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draft is written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given the client message, category, injection flag, and the retrieved KB context together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KB context covers the question, it drafts a concise, friendly resolution grounded in that context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KB doesn’t cover it, the model acknowledges the message and says a specialist is reviewing — it never invents an answer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required to be plain text only, never JSON, so it can be dropped straight into an email body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49440" y="1234440"/>
            <a:ext cx="3886200" cy="4892040"/>
          </a:xfrm>
          <a:prstGeom prst="roundRect">
            <a:avLst>
              <a:gd name="adj" fmla="val 2118"/>
            </a:avLst>
          </a:prstGeom>
          <a:solidFill>
            <a:srgbClr val="B23A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injection is detected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011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skip a normal reply entirely and output a fixed warning instead — it never echoes or engages with the malicious payload: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23760" y="3429000"/>
            <a:ext cx="3337560" cy="2423160"/>
          </a:xfrm>
          <a:prstGeom prst="roundRect">
            <a:avLst>
              <a:gd name="adj" fmla="val 2264"/>
            </a:avLst>
          </a:prstGeom>
          <a:solidFill>
            <a:srgbClr val="141A45"/>
          </a:solidFill>
          <a:ln/>
        </p:spPr>
      </p:sp>
      <p:sp>
        <p:nvSpPr>
          <p:cNvPr id="15" name="Text 11"/>
          <p:cNvSpPr/>
          <p:nvPr/>
        </p:nvSpPr>
        <p:spPr>
          <a:xfrm>
            <a:off x="7406640" y="361188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"WARNING: The client is attempting to inject scripts or malicious SQL payload. Do not execute or copy unchecked parameters."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 &amp; Decision Routing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Requires Human Escalation? (IF)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risk, High priority, Frustrated sentiment, or any non-General category → routed to a human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auto-resolves with no human involved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429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Auto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84048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" y="384048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Auto-Reply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88336" y="4069080"/>
            <a:ext cx="192024" cy="10972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898648" y="384048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35224" y="384048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Auto-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Human Escalation Form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35040" y="18745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Support Lead sends the full ticket context plus the AI-drafted reply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n8n Wait node opens a resumable review form and pauses the workflow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3337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picks one of three decisions: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7161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Suggested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4380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8037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Send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5256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8913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35040" y="4572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also captures the reviewer’s name, an edited response (if applicable), and free-text review notes.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Outcomes &amp; Notifications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73252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Human Decision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Suggested Response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Approved Reply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7111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Approved Client Email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7111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15" name="Shape 12"/>
          <p:cNvSpPr/>
          <p:nvPr/>
        </p:nvSpPr>
        <p:spPr>
          <a:xfrm>
            <a:off x="397764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397764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Send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7764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1421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Edited Reply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(uses reviewer’s text)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9155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20" name="Shape 17"/>
          <p:cNvSpPr/>
          <p:nvPr/>
        </p:nvSpPr>
        <p:spPr>
          <a:xfrm>
            <a:off x="397764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01421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Edited Client Email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9155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Team Lead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49808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3465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Tier-2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1199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sx="100000" sy="100000" kx="0" ky="0" algn="bl" rotWithShape="0" blurRad="50800" dist="12700" dir="5400000">
              <a:srgbClr val="9AA7B5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53465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Tier-2 Lead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11199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</p:sp>
      <p:sp>
        <p:nvSpPr>
          <p:cNvPr id="31" name="Shape 28"/>
          <p:cNvSpPr/>
          <p:nvPr/>
        </p:nvSpPr>
        <p:spPr>
          <a:xfrm>
            <a:off x="457200" y="3611880"/>
            <a:ext cx="1037844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57200" y="361188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Escalated Ticket  (Postgres — records reviewer, decision &amp; notes)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7200" y="448056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decision paths converge on one Postgres update — closing the loop with exactly what the reviewer decided and why.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1: Routine billing question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71600" y="193852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 as low-risk → KB-grounded reply drafted → sent automatically. No human touches this ticket.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944368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2: Frustrated, high-priority bug report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371600" y="351129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support lead notified with full context → reviewer approves or edits in the form → client email sent.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4773168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681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3: Malicious payload in the message field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371600" y="5084064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Security / Malicious Input by both AI and regex → generic safe warning drafted → forced to Team Lead. Never treated as a normal question.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Reliability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08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before spending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gate in Normalize Input rejects bad submissions before any AI call is made — no wasted Gemini spend on data that was never going to be usable.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1508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point of failure on security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80760" y="19659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safety net independently re-checks for injection patterns, so a security classification never rests on the LLM’s judgment alone.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JSON parsing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Prioritize extracts the LLM’s JSON with a regex match and a try/catch, falling back to safe defaults instead of crashing the run on a malformed response.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targeted updates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080760" y="420624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Postgres update is matched on the ticket’s id, never on client_email — so concurrent tickets from the same client can’t overwrite each other.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Credential Management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content safety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checks (Gemini + regex) before a message is trusted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Injection-flagged tickets never get a "helpful" AI answer — only a fixed warning, and they’re force-routed to a human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never allowed to auto-send on a flagged ticket — the review gate is mandatory for anything suspicious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credentials live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18745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(SMTP / OAuth2), Supabase, and the Gemini API key are all stored in n8n’s built-in credential store — never hardcoded inside a node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connects over the Transaction pooler (port 6543) for a reliable SSL chain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on support_kb are granted explicitly to anon / authenticated / service_role, with row-level security disabled only on that KB table — not the ticket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453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 for routine tickets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inquiries auto-resolve immediately — no waiting on a human at all.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80644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62472" y="1581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15453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triage, every time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080760" y="21945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sentiment, and priority no longer depend on who reads the ticket first.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785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reused automatically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152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answers are retrieved and drafted into replies instead of being re-typed by hand.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80644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06247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93192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0" y="3785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attention where it matters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08076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only see tickets that are actually risky, urgent, frustrated, or complex.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19659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set of 7 categories plus one security override — doesn’t adapt to new ticket types on its own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intake — only the form trigger, no email/Slack/WhatsApp yet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3 retrieval can miss an edge-case KB entry on ambiguous questions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replies are English-only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270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035040" y="19659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intake (email, Slack, WhatsApp) feeding the same core pipeline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with auto-escalation if a human review sits too long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dashboard on category, sentiment, and escalation trends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KB coverage and tuning Top-K for stronger retrieval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2153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github.com/SajeelALi2023632/petalnex-ai-automation-internship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Sajeel Ali  ·  Petalnex AI Automation Internship  ·  Day 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2026-08-22T06:01:51Z</dcterms:created>
  <dcterms:modified xsi:type="dcterms:W3CDTF">2026-08-22T06:01:51Z</dcterms:modified>
</cp:coreProperties>
</file>