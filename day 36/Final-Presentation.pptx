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p:bgPr>
    </p:bg>
    <p:spTree>
      <p:nvGrpSpPr>
        <p:cNvPr id="1" name=""/>
        <p:cNvGrpSpPr/>
        <p:nvPr/>
      </p:nvGrpSpPr>
      <p:grpSpPr>
        <a:xfrm>
          <a:off x="0" y="0"/>
          <a:ext cx="0" cy="0"/>
          <a:chOff x="0" y="0"/>
          <a:chExt cx="0" cy="0"/>
        </a:xfrm>
      </p:grpSpPr>
      <p:sp>
        <p:nvSpPr>
          <p:cNvPr id="2" name="Shape 0"/>
          <p:cNvSpPr/>
          <p:nvPr/>
        </p:nvSpPr>
        <p:spPr>
          <a:xfrm>
            <a:off x="9418320" y="-2011680"/>
            <a:ext cx="5486400" cy="5486400"/>
          </a:xfrm>
          <a:prstGeom prst="ellipse">
            <a:avLst/>
          </a:prstGeom>
          <a:solidFill>
            <a:srgbClr val="1F7A8C">
              <a:alpha val="30000"/>
            </a:srgbClr>
          </a:solidFill>
          <a:ln/>
        </p:spPr>
      </p:sp>
      <p:sp>
        <p:nvSpPr>
          <p:cNvPr id="3" name="Shape 1"/>
          <p:cNvSpPr/>
          <p:nvPr/>
        </p:nvSpPr>
        <p:spPr>
          <a:xfrm>
            <a:off x="-1645920" y="4754880"/>
            <a:ext cx="4114800" cy="4114800"/>
          </a:xfrm>
          <a:prstGeom prst="ellipse">
            <a:avLst/>
          </a:prstGeom>
          <a:solidFill>
            <a:srgbClr val="2FC5A2">
              <a:alpha val="20000"/>
            </a:srgbClr>
          </a:solidFill>
          <a:ln/>
        </p:spPr>
      </p:sp>
      <p:sp>
        <p:nvSpPr>
          <p:cNvPr id="4" name="Text 2"/>
          <p:cNvSpPr/>
          <p:nvPr/>
        </p:nvSpPr>
        <p:spPr>
          <a:xfrm>
            <a:off x="822960" y="1965960"/>
            <a:ext cx="7315200" cy="365760"/>
          </a:xfrm>
          <a:prstGeom prst="rect">
            <a:avLst/>
          </a:prstGeom>
          <a:noFill/>
          <a:ln/>
        </p:spPr>
        <p:txBody>
          <a:bodyPr wrap="square" rtlCol="0" anchor="ctr"/>
          <a:lstStyle/>
          <a:p>
            <a:pPr indent="0" marL="0">
              <a:buNone/>
            </a:pPr>
            <a:r>
              <a:rPr lang="en-US" sz="1300" b="1" spc="300" kern="0" dirty="0">
                <a:solidFill>
                  <a:srgbClr val="2FC5A2"/>
                </a:solidFill>
                <a:latin typeface="Calibri" pitchFamily="34" charset="0"/>
                <a:ea typeface="Calibri" pitchFamily="34" charset="-122"/>
                <a:cs typeface="Calibri" pitchFamily="34" charset="-120"/>
              </a:rPr>
              <a:t>FINAL CAPSTONE  •  WEEK 6</a:t>
            </a:r>
            <a:endParaRPr lang="en-US" sz="1300" dirty="0"/>
          </a:p>
        </p:txBody>
      </p:sp>
      <p:sp>
        <p:nvSpPr>
          <p:cNvPr id="5" name="Text 3"/>
          <p:cNvSpPr/>
          <p:nvPr/>
        </p:nvSpPr>
        <p:spPr>
          <a:xfrm>
            <a:off x="822960" y="2331720"/>
            <a:ext cx="9601200" cy="1737360"/>
          </a:xfrm>
          <a:prstGeom prst="rect">
            <a:avLst/>
          </a:prstGeom>
          <a:noFill/>
          <a:ln/>
        </p:spPr>
        <p:txBody>
          <a:bodyPr wrap="square"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AI-Assisted Recruitment</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Automation</a:t>
            </a:r>
            <a:endParaRPr lang="en-US" sz="4400" dirty="0"/>
          </a:p>
        </p:txBody>
      </p:sp>
      <p:sp>
        <p:nvSpPr>
          <p:cNvPr id="6" name="Text 4"/>
          <p:cNvSpPr/>
          <p:nvPr/>
        </p:nvSpPr>
        <p:spPr>
          <a:xfrm>
            <a:off x="822960" y="4160520"/>
            <a:ext cx="8686800" cy="731520"/>
          </a:xfrm>
          <a:prstGeom prst="rect">
            <a:avLst/>
          </a:prstGeom>
          <a:noFill/>
          <a:ln/>
        </p:spPr>
        <p:txBody>
          <a:bodyPr wrap="square" rtlCol="0" anchor="ctr"/>
          <a:lstStyle/>
          <a:p>
            <a:pPr indent="0" marL="0">
              <a:lnSpc>
                <a:spcPct val="120000"/>
              </a:lnSpc>
              <a:buNone/>
            </a:pPr>
            <a:r>
              <a:rPr lang="en-US" sz="1600" i="1" dirty="0">
                <a:solidFill>
                  <a:srgbClr val="C9D6E0"/>
                </a:solidFill>
                <a:latin typeface="Calibri" pitchFamily="34" charset="0"/>
                <a:ea typeface="Calibri" pitchFamily="34" charset="-122"/>
                <a:cs typeface="Calibri" pitchFamily="34" charset="-120"/>
              </a:rPr>
              <a:t>A human-in-the-loop AI pipeline that screens candidates, scores fit,</a:t>
            </a:r>
            <a:endParaRPr lang="en-US" sz="1600" dirty="0"/>
          </a:p>
          <a:p>
            <a:pPr indent="0" marL="0">
              <a:lnSpc>
                <a:spcPct val="120000"/>
              </a:lnSpc>
              <a:buNone/>
            </a:pPr>
            <a:r>
              <a:rPr lang="en-US" sz="1600" i="1" dirty="0">
                <a:solidFill>
                  <a:srgbClr val="C9D6E0"/>
                </a:solidFill>
                <a:latin typeface="Calibri" pitchFamily="34" charset="0"/>
                <a:ea typeface="Calibri" pitchFamily="34" charset="-122"/>
                <a:cs typeface="Calibri" pitchFamily="34" charset="-120"/>
              </a:rPr>
              <a:t>and keeps the final decision with a person — every time.</a:t>
            </a:r>
            <a:endParaRPr lang="en-US" sz="1600" dirty="0"/>
          </a:p>
        </p:txBody>
      </p:sp>
      <p:sp>
        <p:nvSpPr>
          <p:cNvPr id="7" name="Text 5"/>
          <p:cNvSpPr/>
          <p:nvPr/>
        </p:nvSpPr>
        <p:spPr>
          <a:xfrm>
            <a:off x="822960" y="5989320"/>
            <a:ext cx="10058400" cy="365760"/>
          </a:xfrm>
          <a:prstGeom prst="rect">
            <a:avLst/>
          </a:prstGeom>
          <a:noFill/>
          <a:ln/>
        </p:spPr>
        <p:txBody>
          <a:bodyPr wrap="square" rtlCol="0" anchor="ctr"/>
          <a:lstStyle/>
          <a:p>
            <a:pPr indent="0" marL="0">
              <a:buNone/>
            </a:pPr>
            <a:r>
              <a:rPr lang="en-US" sz="1200" dirty="0">
                <a:solidFill>
                  <a:srgbClr val="9FB2C4"/>
                </a:solidFill>
                <a:latin typeface="Calibri" pitchFamily="34" charset="0"/>
                <a:ea typeface="Calibri" pitchFamily="34" charset="-122"/>
                <a:cs typeface="Calibri" pitchFamily="34" charset="-120"/>
              </a:rPr>
              <a:t>Sajeel Ali   |   Petalnex Pvt. Ltd. — AI Automation Internship   |   Day 36 — Final Presentation &amp; Demo Day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The Business Problem</a:t>
            </a:r>
            <a:endParaRPr lang="en-US" sz="3200" dirty="0"/>
          </a:p>
        </p:txBody>
      </p:sp>
      <p:sp>
        <p:nvSpPr>
          <p:cNvPr id="3" name="Text 1"/>
          <p:cNvSpPr/>
          <p:nvPr/>
        </p:nvSpPr>
        <p:spPr>
          <a:xfrm>
            <a:off x="640080" y="1234440"/>
            <a:ext cx="10789920" cy="1005840"/>
          </a:xfrm>
          <a:prstGeom prst="rect">
            <a:avLst/>
          </a:prstGeom>
          <a:noFill/>
          <a:ln/>
        </p:spPr>
        <p:txBody>
          <a:bodyPr wrap="square" rtlCol="0" anchor="ctr"/>
          <a:lstStyle/>
          <a:p>
            <a:pPr indent="0" marL="0">
              <a:lnSpc>
                <a:spcPct val="125000"/>
              </a:lnSpc>
              <a:buNone/>
            </a:pPr>
            <a:r>
              <a:rPr lang="en-US" sz="1500" dirty="0">
                <a:solidFill>
                  <a:srgbClr val="2C2C2C"/>
                </a:solidFill>
                <a:latin typeface="Calibri" pitchFamily="34" charset="0"/>
                <a:ea typeface="Calibri" pitchFamily="34" charset="-122"/>
                <a:cs typeface="Calibri" pitchFamily="34" charset="-120"/>
              </a:rPr>
              <a:t>Manually screening job applications is slow and inconsistent. Recruiters spend significant time reading resumes, extracting relevant skills, and judging fit — a process prone to delay, reviewer fatigue, and inconsistent scoring across candidates.</a:t>
            </a:r>
            <a:endParaRPr lang="en-US" sz="1500" dirty="0"/>
          </a:p>
        </p:txBody>
      </p:sp>
      <p:sp>
        <p:nvSpPr>
          <p:cNvPr id="4" name="Shape 2"/>
          <p:cNvSpPr/>
          <p:nvPr/>
        </p:nvSpPr>
        <p:spPr>
          <a:xfrm>
            <a:off x="640080" y="2743200"/>
            <a:ext cx="2514600" cy="2286000"/>
          </a:xfrm>
          <a:prstGeom prst="roundRect">
            <a:avLst>
              <a:gd name="adj" fmla="val 4800"/>
            </a:avLst>
          </a:prstGeom>
          <a:solidFill>
            <a:srgbClr val="EEF3F4"/>
          </a:solidFill>
          <a:ln/>
        </p:spPr>
      </p:sp>
      <p:sp>
        <p:nvSpPr>
          <p:cNvPr id="5" name="Text 3"/>
          <p:cNvSpPr/>
          <p:nvPr/>
        </p:nvSpPr>
        <p:spPr>
          <a:xfrm>
            <a:off x="640080" y="3063240"/>
            <a:ext cx="2514600" cy="822960"/>
          </a:xfrm>
          <a:prstGeom prst="rect">
            <a:avLst/>
          </a:prstGeom>
          <a:noFill/>
          <a:ln/>
        </p:spPr>
        <p:txBody>
          <a:bodyPr wrap="square" rtlCol="0" anchor="ctr"/>
          <a:lstStyle/>
          <a:p>
            <a:pPr algn="ctr" indent="0" marL="0">
              <a:buNone/>
            </a:pPr>
            <a:r>
              <a:rPr lang="en-US" sz="3400" b="1" dirty="0">
                <a:solidFill>
                  <a:srgbClr val="1F7A8C"/>
                </a:solidFill>
                <a:latin typeface="Cambria" pitchFamily="34" charset="0"/>
                <a:ea typeface="Cambria" pitchFamily="34" charset="-122"/>
                <a:cs typeface="Cambria" pitchFamily="34" charset="-120"/>
              </a:rPr>
              <a:t>100%</a:t>
            </a:r>
            <a:endParaRPr lang="en-US" sz="3400" dirty="0"/>
          </a:p>
        </p:txBody>
      </p:sp>
      <p:sp>
        <p:nvSpPr>
          <p:cNvPr id="6" name="Text 4"/>
          <p:cNvSpPr/>
          <p:nvPr/>
        </p:nvSpPr>
        <p:spPr>
          <a:xfrm>
            <a:off x="777240" y="3977640"/>
            <a:ext cx="2240280" cy="914400"/>
          </a:xfrm>
          <a:prstGeom prst="rect">
            <a:avLst/>
          </a:prstGeom>
          <a:noFill/>
          <a:ln/>
        </p:spPr>
        <p:txBody>
          <a:bodyPr wrap="square" rtlCol="0" anchor="ctr"/>
          <a:lstStyle/>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manual resume</a:t>
            </a:r>
            <a:endParaRPr lang="en-US" sz="1250" dirty="0"/>
          </a:p>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reading &amp; scoring</a:t>
            </a:r>
            <a:endParaRPr lang="en-US" sz="1250" dirty="0"/>
          </a:p>
        </p:txBody>
      </p:sp>
      <p:sp>
        <p:nvSpPr>
          <p:cNvPr id="7" name="Shape 5"/>
          <p:cNvSpPr/>
          <p:nvPr/>
        </p:nvSpPr>
        <p:spPr>
          <a:xfrm>
            <a:off x="3474720" y="2743200"/>
            <a:ext cx="2514600" cy="2286000"/>
          </a:xfrm>
          <a:prstGeom prst="roundRect">
            <a:avLst>
              <a:gd name="adj" fmla="val 4800"/>
            </a:avLst>
          </a:prstGeom>
          <a:solidFill>
            <a:srgbClr val="EEF3F4"/>
          </a:solidFill>
          <a:ln/>
        </p:spPr>
      </p:sp>
      <p:sp>
        <p:nvSpPr>
          <p:cNvPr id="8" name="Text 6"/>
          <p:cNvSpPr/>
          <p:nvPr/>
        </p:nvSpPr>
        <p:spPr>
          <a:xfrm>
            <a:off x="3474720" y="3063240"/>
            <a:ext cx="2514600" cy="822960"/>
          </a:xfrm>
          <a:prstGeom prst="rect">
            <a:avLst/>
          </a:prstGeom>
          <a:noFill/>
          <a:ln/>
        </p:spPr>
        <p:txBody>
          <a:bodyPr wrap="square" rtlCol="0" anchor="ctr"/>
          <a:lstStyle/>
          <a:p>
            <a:pPr algn="ctr" indent="0" marL="0">
              <a:buNone/>
            </a:pPr>
            <a:r>
              <a:rPr lang="en-US" sz="3400" b="1" dirty="0">
                <a:solidFill>
                  <a:srgbClr val="1F7A8C"/>
                </a:solidFill>
                <a:latin typeface="Cambria" pitchFamily="34" charset="0"/>
                <a:ea typeface="Cambria" pitchFamily="34" charset="-122"/>
                <a:cs typeface="Cambria" pitchFamily="34" charset="-120"/>
              </a:rPr>
              <a:t>0</a:t>
            </a:r>
            <a:endParaRPr lang="en-US" sz="3400" dirty="0"/>
          </a:p>
        </p:txBody>
      </p:sp>
      <p:sp>
        <p:nvSpPr>
          <p:cNvPr id="9" name="Text 7"/>
          <p:cNvSpPr/>
          <p:nvPr/>
        </p:nvSpPr>
        <p:spPr>
          <a:xfrm>
            <a:off x="3611880" y="3977640"/>
            <a:ext cx="2240280" cy="914400"/>
          </a:xfrm>
          <a:prstGeom prst="rect">
            <a:avLst/>
          </a:prstGeom>
          <a:noFill/>
          <a:ln/>
        </p:spPr>
        <p:txBody>
          <a:bodyPr wrap="square" rtlCol="0" anchor="ctr"/>
          <a:lstStyle/>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consistent rubric</a:t>
            </a:r>
            <a:endParaRPr lang="en-US" sz="1250" dirty="0"/>
          </a:p>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applied across candidates</a:t>
            </a:r>
            <a:endParaRPr lang="en-US" sz="1250" dirty="0"/>
          </a:p>
        </p:txBody>
      </p:sp>
      <p:sp>
        <p:nvSpPr>
          <p:cNvPr id="10" name="Shape 8"/>
          <p:cNvSpPr/>
          <p:nvPr/>
        </p:nvSpPr>
        <p:spPr>
          <a:xfrm>
            <a:off x="6309360" y="2743200"/>
            <a:ext cx="2514600" cy="2286000"/>
          </a:xfrm>
          <a:prstGeom prst="roundRect">
            <a:avLst>
              <a:gd name="adj" fmla="val 4800"/>
            </a:avLst>
          </a:prstGeom>
          <a:solidFill>
            <a:srgbClr val="EEF3F4"/>
          </a:solidFill>
          <a:ln/>
        </p:spPr>
      </p:sp>
      <p:sp>
        <p:nvSpPr>
          <p:cNvPr id="11" name="Text 9"/>
          <p:cNvSpPr/>
          <p:nvPr/>
        </p:nvSpPr>
        <p:spPr>
          <a:xfrm>
            <a:off x="6309360" y="3063240"/>
            <a:ext cx="2514600" cy="822960"/>
          </a:xfrm>
          <a:prstGeom prst="rect">
            <a:avLst/>
          </a:prstGeom>
          <a:noFill/>
          <a:ln/>
        </p:spPr>
        <p:txBody>
          <a:bodyPr wrap="square" rtlCol="0" anchor="ctr"/>
          <a:lstStyle/>
          <a:p>
            <a:pPr algn="ctr" indent="0" marL="0">
              <a:buNone/>
            </a:pPr>
            <a:r>
              <a:rPr lang="en-US" sz="3400" b="1" dirty="0">
                <a:solidFill>
                  <a:srgbClr val="1F7A8C"/>
                </a:solidFill>
                <a:latin typeface="Cambria" pitchFamily="34" charset="0"/>
                <a:ea typeface="Cambria" pitchFamily="34" charset="-122"/>
                <a:cs typeface="Cambria" pitchFamily="34" charset="-120"/>
              </a:rPr>
              <a:t>Ad-hoc</a:t>
            </a:r>
            <a:endParaRPr lang="en-US" sz="3400" dirty="0"/>
          </a:p>
        </p:txBody>
      </p:sp>
      <p:sp>
        <p:nvSpPr>
          <p:cNvPr id="12" name="Text 10"/>
          <p:cNvSpPr/>
          <p:nvPr/>
        </p:nvSpPr>
        <p:spPr>
          <a:xfrm>
            <a:off x="6446520" y="3977640"/>
            <a:ext cx="2240280" cy="914400"/>
          </a:xfrm>
          <a:prstGeom prst="rect">
            <a:avLst/>
          </a:prstGeom>
          <a:noFill/>
          <a:ln/>
        </p:spPr>
        <p:txBody>
          <a:bodyPr wrap="square" rtlCol="0" anchor="ctr"/>
          <a:lstStyle/>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candidate</a:t>
            </a:r>
            <a:endParaRPr lang="en-US" sz="1250" dirty="0"/>
          </a:p>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communication</a:t>
            </a:r>
            <a:endParaRPr lang="en-US" sz="1250" dirty="0"/>
          </a:p>
        </p:txBody>
      </p:sp>
      <p:sp>
        <p:nvSpPr>
          <p:cNvPr id="13" name="Shape 11"/>
          <p:cNvSpPr/>
          <p:nvPr/>
        </p:nvSpPr>
        <p:spPr>
          <a:xfrm>
            <a:off x="9144000" y="2743200"/>
            <a:ext cx="2514600" cy="2286000"/>
          </a:xfrm>
          <a:prstGeom prst="roundRect">
            <a:avLst>
              <a:gd name="adj" fmla="val 4800"/>
            </a:avLst>
          </a:prstGeom>
          <a:solidFill>
            <a:srgbClr val="EEF3F4"/>
          </a:solidFill>
          <a:ln/>
        </p:spPr>
      </p:sp>
      <p:sp>
        <p:nvSpPr>
          <p:cNvPr id="14" name="Text 12"/>
          <p:cNvSpPr/>
          <p:nvPr/>
        </p:nvSpPr>
        <p:spPr>
          <a:xfrm>
            <a:off x="9144000" y="3063240"/>
            <a:ext cx="2514600" cy="822960"/>
          </a:xfrm>
          <a:prstGeom prst="rect">
            <a:avLst/>
          </a:prstGeom>
          <a:noFill/>
          <a:ln/>
        </p:spPr>
        <p:txBody>
          <a:bodyPr wrap="square" rtlCol="0" anchor="ctr"/>
          <a:lstStyle/>
          <a:p>
            <a:pPr algn="ctr" indent="0" marL="0">
              <a:buNone/>
            </a:pPr>
            <a:r>
              <a:rPr lang="en-US" sz="3400" b="1" dirty="0">
                <a:solidFill>
                  <a:srgbClr val="1F7A8C"/>
                </a:solidFill>
                <a:latin typeface="Cambria" pitchFamily="34" charset="0"/>
                <a:ea typeface="Cambria" pitchFamily="34" charset="-122"/>
                <a:cs typeface="Cambria" pitchFamily="34" charset="-120"/>
              </a:rPr>
              <a:t>None</a:t>
            </a:r>
            <a:endParaRPr lang="en-US" sz="3400" dirty="0"/>
          </a:p>
        </p:txBody>
      </p:sp>
      <p:sp>
        <p:nvSpPr>
          <p:cNvPr id="15" name="Text 13"/>
          <p:cNvSpPr/>
          <p:nvPr/>
        </p:nvSpPr>
        <p:spPr>
          <a:xfrm>
            <a:off x="9281160" y="3977640"/>
            <a:ext cx="2240280" cy="914400"/>
          </a:xfrm>
          <a:prstGeom prst="rect">
            <a:avLst/>
          </a:prstGeom>
          <a:noFill/>
          <a:ln/>
        </p:spPr>
        <p:txBody>
          <a:bodyPr wrap="square" rtlCol="0" anchor="ctr"/>
          <a:lstStyle/>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structured</a:t>
            </a:r>
            <a:endParaRPr lang="en-US" sz="1250" dirty="0"/>
          </a:p>
          <a:p>
            <a:pPr algn="ctr" indent="0" marL="0">
              <a:lnSpc>
                <a:spcPct val="115000"/>
              </a:lnSpc>
              <a:buNone/>
            </a:pPr>
            <a:r>
              <a:rPr lang="en-US" sz="1250" dirty="0">
                <a:solidFill>
                  <a:srgbClr val="6B7280"/>
                </a:solidFill>
                <a:latin typeface="Calibri" pitchFamily="34" charset="0"/>
                <a:ea typeface="Calibri" pitchFamily="34" charset="-122"/>
                <a:cs typeface="Calibri" pitchFamily="34" charset="-120"/>
              </a:rPr>
              <a:t>audit trail</a:t>
            </a:r>
            <a:endParaRPr lang="en-US" sz="1250" dirty="0"/>
          </a:p>
        </p:txBody>
      </p:sp>
      <p:sp>
        <p:nvSpPr>
          <p:cNvPr id="16" name="Text 14"/>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17" name="Text 15"/>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Existing Process &amp; Pain Points</a:t>
            </a:r>
            <a:endParaRPr lang="en-US" sz="3200" dirty="0"/>
          </a:p>
        </p:txBody>
      </p:sp>
      <p:sp>
        <p:nvSpPr>
          <p:cNvPr id="3" name="Text 1"/>
          <p:cNvSpPr/>
          <p:nvPr/>
        </p:nvSpPr>
        <p:spPr>
          <a:xfrm>
            <a:off x="640080" y="1188720"/>
            <a:ext cx="4572000" cy="365760"/>
          </a:xfrm>
          <a:prstGeom prst="rect">
            <a:avLst/>
          </a:prstGeom>
          <a:noFill/>
          <a:ln/>
        </p:spPr>
        <p:txBody>
          <a:bodyPr wrap="square" rtlCol="0" anchor="ctr"/>
          <a:lstStyle/>
          <a:p>
            <a:pPr indent="0" marL="0">
              <a:buNone/>
            </a:pPr>
            <a:r>
              <a:rPr lang="en-US" sz="1400" b="1" dirty="0">
                <a:solidFill>
                  <a:srgbClr val="1F7A8C"/>
                </a:solidFill>
                <a:latin typeface="Calibri" pitchFamily="34" charset="0"/>
                <a:ea typeface="Calibri" pitchFamily="34" charset="-122"/>
                <a:cs typeface="Calibri" pitchFamily="34" charset="-120"/>
              </a:rPr>
              <a:t>Today's process</a:t>
            </a:r>
            <a:endParaRPr lang="en-US" sz="1400" dirty="0"/>
          </a:p>
        </p:txBody>
      </p:sp>
      <p:sp>
        <p:nvSpPr>
          <p:cNvPr id="4" name="Shape 2"/>
          <p:cNvSpPr/>
          <p:nvPr/>
        </p:nvSpPr>
        <p:spPr>
          <a:xfrm>
            <a:off x="640080" y="1691640"/>
            <a:ext cx="2377440" cy="1051560"/>
          </a:xfrm>
          <a:prstGeom prst="roundRect">
            <a:avLst>
              <a:gd name="adj" fmla="val 8696"/>
            </a:avLst>
          </a:prstGeom>
          <a:solidFill>
            <a:srgbClr val="F4F6F7"/>
          </a:solidFill>
          <a:ln w="12700">
            <a:solidFill>
              <a:srgbClr val="D7DEE2"/>
            </a:solidFill>
            <a:prstDash val="solid"/>
          </a:ln>
        </p:spPr>
      </p:sp>
      <p:sp>
        <p:nvSpPr>
          <p:cNvPr id="5" name="Text 3"/>
          <p:cNvSpPr/>
          <p:nvPr/>
        </p:nvSpPr>
        <p:spPr>
          <a:xfrm>
            <a:off x="731520" y="1783080"/>
            <a:ext cx="2194560" cy="868680"/>
          </a:xfrm>
          <a:prstGeom prst="rect">
            <a:avLst/>
          </a:prstGeom>
          <a:noFill/>
          <a:ln/>
        </p:spPr>
        <p:txBody>
          <a:bodyPr wrap="square" rtlCol="0" anchor="ctr"/>
          <a:lstStyle/>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Candidate applies</a:t>
            </a:r>
            <a:endParaRPr lang="en-US" sz="1150" dirty="0"/>
          </a:p>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(email / ad-hoc form)</a:t>
            </a:r>
            <a:endParaRPr lang="en-US" sz="1150" dirty="0"/>
          </a:p>
        </p:txBody>
      </p:sp>
      <p:sp>
        <p:nvSpPr>
          <p:cNvPr id="6" name="Shape 4"/>
          <p:cNvSpPr/>
          <p:nvPr/>
        </p:nvSpPr>
        <p:spPr>
          <a:xfrm>
            <a:off x="3035808" y="2103120"/>
            <a:ext cx="192024" cy="228600"/>
          </a:xfrm>
          <a:prstGeom prst="rightArrow">
            <a:avLst/>
          </a:prstGeom>
          <a:solidFill>
            <a:srgbClr val="1F7A8C"/>
          </a:solidFill>
          <a:ln/>
        </p:spPr>
      </p:sp>
      <p:sp>
        <p:nvSpPr>
          <p:cNvPr id="7" name="Shape 5"/>
          <p:cNvSpPr/>
          <p:nvPr/>
        </p:nvSpPr>
        <p:spPr>
          <a:xfrm>
            <a:off x="3246120" y="1691640"/>
            <a:ext cx="2377440" cy="1051560"/>
          </a:xfrm>
          <a:prstGeom prst="roundRect">
            <a:avLst>
              <a:gd name="adj" fmla="val 8696"/>
            </a:avLst>
          </a:prstGeom>
          <a:solidFill>
            <a:srgbClr val="F4F6F7"/>
          </a:solidFill>
          <a:ln w="12700">
            <a:solidFill>
              <a:srgbClr val="D7DEE2"/>
            </a:solidFill>
            <a:prstDash val="solid"/>
          </a:ln>
        </p:spPr>
      </p:sp>
      <p:sp>
        <p:nvSpPr>
          <p:cNvPr id="8" name="Text 6"/>
          <p:cNvSpPr/>
          <p:nvPr/>
        </p:nvSpPr>
        <p:spPr>
          <a:xfrm>
            <a:off x="3337560" y="1783080"/>
            <a:ext cx="2194560" cy="868680"/>
          </a:xfrm>
          <a:prstGeom prst="rect">
            <a:avLst/>
          </a:prstGeom>
          <a:noFill/>
          <a:ln/>
        </p:spPr>
        <p:txBody>
          <a:bodyPr wrap="square" rtlCol="0" anchor="ctr"/>
          <a:lstStyle/>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Recruiter manually</a:t>
            </a:r>
            <a:endParaRPr lang="en-US" sz="1150" dirty="0"/>
          </a:p>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reads &amp; extracts skills</a:t>
            </a:r>
            <a:endParaRPr lang="en-US" sz="1150" dirty="0"/>
          </a:p>
        </p:txBody>
      </p:sp>
      <p:sp>
        <p:nvSpPr>
          <p:cNvPr id="9" name="Shape 7"/>
          <p:cNvSpPr/>
          <p:nvPr/>
        </p:nvSpPr>
        <p:spPr>
          <a:xfrm>
            <a:off x="5641848" y="2103120"/>
            <a:ext cx="192024" cy="228600"/>
          </a:xfrm>
          <a:prstGeom prst="rightArrow">
            <a:avLst/>
          </a:prstGeom>
          <a:solidFill>
            <a:srgbClr val="1F7A8C"/>
          </a:solidFill>
          <a:ln/>
        </p:spPr>
      </p:sp>
      <p:sp>
        <p:nvSpPr>
          <p:cNvPr id="10" name="Shape 8"/>
          <p:cNvSpPr/>
          <p:nvPr/>
        </p:nvSpPr>
        <p:spPr>
          <a:xfrm>
            <a:off x="5852160" y="1691640"/>
            <a:ext cx="2377440" cy="1051560"/>
          </a:xfrm>
          <a:prstGeom prst="roundRect">
            <a:avLst>
              <a:gd name="adj" fmla="val 8696"/>
            </a:avLst>
          </a:prstGeom>
          <a:solidFill>
            <a:srgbClr val="F4F6F7"/>
          </a:solidFill>
          <a:ln w="12700">
            <a:solidFill>
              <a:srgbClr val="D7DEE2"/>
            </a:solidFill>
            <a:prstDash val="solid"/>
          </a:ln>
        </p:spPr>
      </p:sp>
      <p:sp>
        <p:nvSpPr>
          <p:cNvPr id="11" name="Text 9"/>
          <p:cNvSpPr/>
          <p:nvPr/>
        </p:nvSpPr>
        <p:spPr>
          <a:xfrm>
            <a:off x="5943600" y="1783080"/>
            <a:ext cx="2194560" cy="868680"/>
          </a:xfrm>
          <a:prstGeom prst="rect">
            <a:avLst/>
          </a:prstGeom>
          <a:noFill/>
          <a:ln/>
        </p:spPr>
        <p:txBody>
          <a:bodyPr wrap="square" rtlCol="0" anchor="ctr"/>
          <a:lstStyle/>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Recruiter judges fit</a:t>
            </a:r>
            <a:endParaRPr lang="en-US" sz="1150" dirty="0"/>
          </a:p>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(no fixed rubric)</a:t>
            </a:r>
            <a:endParaRPr lang="en-US" sz="1150" dirty="0"/>
          </a:p>
        </p:txBody>
      </p:sp>
      <p:sp>
        <p:nvSpPr>
          <p:cNvPr id="12" name="Shape 10"/>
          <p:cNvSpPr/>
          <p:nvPr/>
        </p:nvSpPr>
        <p:spPr>
          <a:xfrm>
            <a:off x="8247888" y="2103120"/>
            <a:ext cx="192024" cy="228600"/>
          </a:xfrm>
          <a:prstGeom prst="rightArrow">
            <a:avLst/>
          </a:prstGeom>
          <a:solidFill>
            <a:srgbClr val="1F7A8C"/>
          </a:solidFill>
          <a:ln/>
        </p:spPr>
      </p:sp>
      <p:sp>
        <p:nvSpPr>
          <p:cNvPr id="13" name="Shape 11"/>
          <p:cNvSpPr/>
          <p:nvPr/>
        </p:nvSpPr>
        <p:spPr>
          <a:xfrm>
            <a:off x="8458200" y="1691640"/>
            <a:ext cx="2377440" cy="1051560"/>
          </a:xfrm>
          <a:prstGeom prst="roundRect">
            <a:avLst>
              <a:gd name="adj" fmla="val 8696"/>
            </a:avLst>
          </a:prstGeom>
          <a:solidFill>
            <a:srgbClr val="F4F6F7"/>
          </a:solidFill>
          <a:ln w="12700">
            <a:solidFill>
              <a:srgbClr val="D7DEE2"/>
            </a:solidFill>
            <a:prstDash val="solid"/>
          </a:ln>
        </p:spPr>
      </p:sp>
      <p:sp>
        <p:nvSpPr>
          <p:cNvPr id="14" name="Text 12"/>
          <p:cNvSpPr/>
          <p:nvPr/>
        </p:nvSpPr>
        <p:spPr>
          <a:xfrm>
            <a:off x="8549640" y="1783080"/>
            <a:ext cx="2194560" cy="868680"/>
          </a:xfrm>
          <a:prstGeom prst="rect">
            <a:avLst/>
          </a:prstGeom>
          <a:noFill/>
          <a:ln/>
        </p:spPr>
        <p:txBody>
          <a:bodyPr wrap="square" rtlCol="0" anchor="ctr"/>
          <a:lstStyle/>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Manual, inconsistent</a:t>
            </a:r>
            <a:endParaRPr lang="en-US" sz="1150" dirty="0"/>
          </a:p>
          <a:p>
            <a:pPr algn="ctr" indent="0" marL="0">
              <a:lnSpc>
                <a:spcPct val="110000"/>
              </a:lnSpc>
              <a:buNone/>
            </a:pPr>
            <a:r>
              <a:rPr lang="en-US" sz="1150" dirty="0">
                <a:solidFill>
                  <a:srgbClr val="2C2C2C"/>
                </a:solidFill>
                <a:latin typeface="Calibri" pitchFamily="34" charset="0"/>
                <a:ea typeface="Calibri" pitchFamily="34" charset="-122"/>
                <a:cs typeface="Calibri" pitchFamily="34" charset="-120"/>
              </a:rPr>
              <a:t>follow-up email</a:t>
            </a:r>
            <a:endParaRPr lang="en-US" sz="1150" dirty="0"/>
          </a:p>
        </p:txBody>
      </p:sp>
      <p:sp>
        <p:nvSpPr>
          <p:cNvPr id="15" name="Text 13"/>
          <p:cNvSpPr/>
          <p:nvPr/>
        </p:nvSpPr>
        <p:spPr>
          <a:xfrm>
            <a:off x="640080" y="3200400"/>
            <a:ext cx="4572000" cy="365760"/>
          </a:xfrm>
          <a:prstGeom prst="rect">
            <a:avLst/>
          </a:prstGeom>
          <a:noFill/>
          <a:ln/>
        </p:spPr>
        <p:txBody>
          <a:bodyPr wrap="square" rtlCol="0" anchor="ctr"/>
          <a:lstStyle/>
          <a:p>
            <a:pPr indent="0" marL="0">
              <a:buNone/>
            </a:pPr>
            <a:r>
              <a:rPr lang="en-US" sz="1400" b="1" dirty="0">
                <a:solidFill>
                  <a:srgbClr val="1F7A8C"/>
                </a:solidFill>
                <a:latin typeface="Calibri" pitchFamily="34" charset="0"/>
                <a:ea typeface="Calibri" pitchFamily="34" charset="-122"/>
                <a:cs typeface="Calibri" pitchFamily="34" charset="-120"/>
              </a:rPr>
              <a:t>Pain points</a:t>
            </a:r>
            <a:endParaRPr lang="en-US" sz="1400" dirty="0"/>
          </a:p>
        </p:txBody>
      </p:sp>
      <p:sp>
        <p:nvSpPr>
          <p:cNvPr id="16" name="Shape 14"/>
          <p:cNvSpPr/>
          <p:nvPr/>
        </p:nvSpPr>
        <p:spPr>
          <a:xfrm>
            <a:off x="640080" y="3721608"/>
            <a:ext cx="292608" cy="292608"/>
          </a:xfrm>
          <a:prstGeom prst="ellipse">
            <a:avLst/>
          </a:prstGeom>
          <a:solidFill>
            <a:srgbClr val="C0524A"/>
          </a:solidFill>
          <a:ln/>
        </p:spPr>
      </p:sp>
      <p:sp>
        <p:nvSpPr>
          <p:cNvPr id="17" name="Text 15"/>
          <p:cNvSpPr/>
          <p:nvPr/>
        </p:nvSpPr>
        <p:spPr>
          <a:xfrm>
            <a:off x="640080" y="3721608"/>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078992" y="3630168"/>
            <a:ext cx="4800600" cy="5943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Applications arrive through multiple channels with no central record</a:t>
            </a:r>
            <a:endParaRPr lang="en-US" sz="1200" dirty="0"/>
          </a:p>
        </p:txBody>
      </p:sp>
      <p:sp>
        <p:nvSpPr>
          <p:cNvPr id="19" name="Shape 17"/>
          <p:cNvSpPr/>
          <p:nvPr/>
        </p:nvSpPr>
        <p:spPr>
          <a:xfrm>
            <a:off x="6172200" y="3721608"/>
            <a:ext cx="292608" cy="292608"/>
          </a:xfrm>
          <a:prstGeom prst="ellipse">
            <a:avLst/>
          </a:prstGeom>
          <a:solidFill>
            <a:srgbClr val="C0524A"/>
          </a:solidFill>
          <a:ln/>
        </p:spPr>
      </p:sp>
      <p:sp>
        <p:nvSpPr>
          <p:cNvPr id="20" name="Text 18"/>
          <p:cNvSpPr/>
          <p:nvPr/>
        </p:nvSpPr>
        <p:spPr>
          <a:xfrm>
            <a:off x="6172200" y="3721608"/>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611112" y="3630168"/>
            <a:ext cx="4800600" cy="5943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Skills and experience extracted manually — slow and error-prone</a:t>
            </a:r>
            <a:endParaRPr lang="en-US" sz="1200" dirty="0"/>
          </a:p>
        </p:txBody>
      </p:sp>
      <p:sp>
        <p:nvSpPr>
          <p:cNvPr id="22" name="Shape 20"/>
          <p:cNvSpPr/>
          <p:nvPr/>
        </p:nvSpPr>
        <p:spPr>
          <a:xfrm>
            <a:off x="640080" y="4379976"/>
            <a:ext cx="292608" cy="292608"/>
          </a:xfrm>
          <a:prstGeom prst="ellipse">
            <a:avLst/>
          </a:prstGeom>
          <a:solidFill>
            <a:srgbClr val="C0524A"/>
          </a:solidFill>
          <a:ln/>
        </p:spPr>
      </p:sp>
      <p:sp>
        <p:nvSpPr>
          <p:cNvPr id="23" name="Text 21"/>
          <p:cNvSpPr/>
          <p:nvPr/>
        </p:nvSpPr>
        <p:spPr>
          <a:xfrm>
            <a:off x="640080" y="4379976"/>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1078992" y="4288536"/>
            <a:ext cx="4800600" cy="5943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No consistent scoring rubric across candidates</a:t>
            </a:r>
            <a:endParaRPr lang="en-US" sz="1200" dirty="0"/>
          </a:p>
        </p:txBody>
      </p:sp>
      <p:sp>
        <p:nvSpPr>
          <p:cNvPr id="25" name="Shape 23"/>
          <p:cNvSpPr/>
          <p:nvPr/>
        </p:nvSpPr>
        <p:spPr>
          <a:xfrm>
            <a:off x="6172200" y="4379976"/>
            <a:ext cx="292608" cy="292608"/>
          </a:xfrm>
          <a:prstGeom prst="ellipse">
            <a:avLst/>
          </a:prstGeom>
          <a:solidFill>
            <a:srgbClr val="C0524A"/>
          </a:solidFill>
          <a:ln/>
        </p:spPr>
      </p:sp>
      <p:sp>
        <p:nvSpPr>
          <p:cNvPr id="26" name="Text 24"/>
          <p:cNvSpPr/>
          <p:nvPr/>
        </p:nvSpPr>
        <p:spPr>
          <a:xfrm>
            <a:off x="6172200" y="4379976"/>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611112" y="4288536"/>
            <a:ext cx="4800600" cy="5943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Recruiter manually tracks status across the pipeline</a:t>
            </a:r>
            <a:endParaRPr lang="en-US" sz="1200" dirty="0"/>
          </a:p>
        </p:txBody>
      </p:sp>
      <p:sp>
        <p:nvSpPr>
          <p:cNvPr id="28" name="Shape 26"/>
          <p:cNvSpPr/>
          <p:nvPr/>
        </p:nvSpPr>
        <p:spPr>
          <a:xfrm>
            <a:off x="640080" y="5038344"/>
            <a:ext cx="292608" cy="292608"/>
          </a:xfrm>
          <a:prstGeom prst="ellipse">
            <a:avLst/>
          </a:prstGeom>
          <a:solidFill>
            <a:srgbClr val="C0524A"/>
          </a:solidFill>
          <a:ln/>
        </p:spPr>
      </p:sp>
      <p:sp>
        <p:nvSpPr>
          <p:cNvPr id="29" name="Text 27"/>
          <p:cNvSpPr/>
          <p:nvPr/>
        </p:nvSpPr>
        <p:spPr>
          <a:xfrm>
            <a:off x="640080" y="5038344"/>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1078992" y="4946904"/>
            <a:ext cx="4800600" cy="5943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Candidate communication sent manually and inconsistently</a:t>
            </a:r>
            <a:endParaRPr lang="en-US" sz="1200" dirty="0"/>
          </a:p>
        </p:txBody>
      </p:sp>
      <p:sp>
        <p:nvSpPr>
          <p:cNvPr id="31" name="Shape 29"/>
          <p:cNvSpPr/>
          <p:nvPr/>
        </p:nvSpPr>
        <p:spPr>
          <a:xfrm>
            <a:off x="6172200" y="5038344"/>
            <a:ext cx="292608" cy="292608"/>
          </a:xfrm>
          <a:prstGeom prst="ellipse">
            <a:avLst/>
          </a:prstGeom>
          <a:solidFill>
            <a:srgbClr val="C0524A"/>
          </a:solidFill>
          <a:ln/>
        </p:spPr>
      </p:sp>
      <p:sp>
        <p:nvSpPr>
          <p:cNvPr id="32" name="Text 30"/>
          <p:cNvSpPr/>
          <p:nvPr/>
        </p:nvSpPr>
        <p:spPr>
          <a:xfrm>
            <a:off x="6172200" y="5038344"/>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6611112" y="4946904"/>
            <a:ext cx="4800600" cy="5943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No structured audit trail of who was evaluated, when, and why</a:t>
            </a:r>
            <a:endParaRPr lang="en-US" sz="1200" dirty="0"/>
          </a:p>
        </p:txBody>
      </p:sp>
      <p:sp>
        <p:nvSpPr>
          <p:cNvPr id="34" name="Text 32"/>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35" name="Text 33"/>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Proposed Solution</a:t>
            </a:r>
            <a:endParaRPr lang="en-US" sz="3200" dirty="0"/>
          </a:p>
        </p:txBody>
      </p:sp>
      <p:sp>
        <p:nvSpPr>
          <p:cNvPr id="3" name="Text 1"/>
          <p:cNvSpPr/>
          <p:nvPr/>
        </p:nvSpPr>
        <p:spPr>
          <a:xfrm>
            <a:off x="640080" y="1143000"/>
            <a:ext cx="10058400" cy="45720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An automated pipeline that combines deterministic rules, AI judgment, and mandatory human approval.</a:t>
            </a:r>
            <a:endParaRPr lang="en-US" sz="1400" dirty="0"/>
          </a:p>
        </p:txBody>
      </p:sp>
      <p:sp>
        <p:nvSpPr>
          <p:cNvPr id="4" name="Shape 2"/>
          <p:cNvSpPr/>
          <p:nvPr/>
        </p:nvSpPr>
        <p:spPr>
          <a:xfrm>
            <a:off x="640080" y="1828800"/>
            <a:ext cx="5349240" cy="1417320"/>
          </a:xfrm>
          <a:prstGeom prst="roundRect">
            <a:avLst>
              <a:gd name="adj" fmla="val 6452"/>
            </a:avLst>
          </a:prstGeom>
          <a:solidFill>
            <a:srgbClr val="EEF3F4"/>
          </a:solidFill>
          <a:ln/>
        </p:spPr>
      </p:sp>
      <p:sp>
        <p:nvSpPr>
          <p:cNvPr id="5" name="Shape 3"/>
          <p:cNvSpPr/>
          <p:nvPr/>
        </p:nvSpPr>
        <p:spPr>
          <a:xfrm>
            <a:off x="868680" y="2084832"/>
            <a:ext cx="502920" cy="502920"/>
          </a:xfrm>
          <a:prstGeom prst="ellipse">
            <a:avLst/>
          </a:prstGeom>
          <a:solidFill>
            <a:srgbClr val="1F7A8C"/>
          </a:solidFill>
          <a:ln/>
        </p:spPr>
      </p:sp>
      <p:sp>
        <p:nvSpPr>
          <p:cNvPr id="6" name="Text 4"/>
          <p:cNvSpPr/>
          <p:nvPr/>
        </p:nvSpPr>
        <p:spPr>
          <a:xfrm>
            <a:off x="868680" y="208483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08760" y="1993392"/>
            <a:ext cx="434340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Form Trigger</a:t>
            </a:r>
            <a:endParaRPr lang="en-US" sz="1500" dirty="0"/>
          </a:p>
        </p:txBody>
      </p:sp>
      <p:sp>
        <p:nvSpPr>
          <p:cNvPr id="8" name="Text 6"/>
          <p:cNvSpPr/>
          <p:nvPr/>
        </p:nvSpPr>
        <p:spPr>
          <a:xfrm>
            <a:off x="1508760" y="2359152"/>
            <a:ext cx="4297680" cy="777240"/>
          </a:xfrm>
          <a:prstGeom prst="rect">
            <a:avLst/>
          </a:prstGeom>
          <a:noFill/>
          <a:ln/>
        </p:spPr>
        <p:txBody>
          <a:bodyPr wrap="square" rtlCol="0" anchor="ctr"/>
          <a:lstStyle/>
          <a:p>
            <a:pPr indent="0" marL="0">
              <a:lnSpc>
                <a:spcPct val="115000"/>
              </a:lnSpc>
              <a:buNone/>
            </a:pPr>
            <a:r>
              <a:rPr lang="en-US" sz="1150" dirty="0">
                <a:solidFill>
                  <a:srgbClr val="2C2C2C"/>
                </a:solidFill>
                <a:latin typeface="Calibri" pitchFamily="34" charset="0"/>
                <a:ea typeface="Calibri" pitchFamily="34" charset="-122"/>
                <a:cs typeface="Calibri" pitchFamily="34" charset="-120"/>
              </a:rPr>
              <a:t>Candidate submits a structured application (n8n Form Trigger)</a:t>
            </a:r>
            <a:endParaRPr lang="en-US" sz="1150" dirty="0"/>
          </a:p>
        </p:txBody>
      </p:sp>
      <p:sp>
        <p:nvSpPr>
          <p:cNvPr id="9" name="Shape 7"/>
          <p:cNvSpPr/>
          <p:nvPr/>
        </p:nvSpPr>
        <p:spPr>
          <a:xfrm>
            <a:off x="6263640" y="1828800"/>
            <a:ext cx="5349240" cy="1417320"/>
          </a:xfrm>
          <a:prstGeom prst="roundRect">
            <a:avLst>
              <a:gd name="adj" fmla="val 6452"/>
            </a:avLst>
          </a:prstGeom>
          <a:solidFill>
            <a:srgbClr val="EEF3F4"/>
          </a:solidFill>
          <a:ln/>
        </p:spPr>
      </p:sp>
      <p:sp>
        <p:nvSpPr>
          <p:cNvPr id="10" name="Shape 8"/>
          <p:cNvSpPr/>
          <p:nvPr/>
        </p:nvSpPr>
        <p:spPr>
          <a:xfrm>
            <a:off x="6492240" y="2084832"/>
            <a:ext cx="502920" cy="502920"/>
          </a:xfrm>
          <a:prstGeom prst="ellipse">
            <a:avLst/>
          </a:prstGeom>
          <a:solidFill>
            <a:srgbClr val="1F7A8C"/>
          </a:solidFill>
          <a:ln/>
        </p:spPr>
      </p:sp>
      <p:sp>
        <p:nvSpPr>
          <p:cNvPr id="11" name="Text 9"/>
          <p:cNvSpPr/>
          <p:nvPr/>
        </p:nvSpPr>
        <p:spPr>
          <a:xfrm>
            <a:off x="6492240" y="208483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7132320" y="1993392"/>
            <a:ext cx="434340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Validation</a:t>
            </a:r>
            <a:endParaRPr lang="en-US" sz="1500" dirty="0"/>
          </a:p>
        </p:txBody>
      </p:sp>
      <p:sp>
        <p:nvSpPr>
          <p:cNvPr id="13" name="Text 11"/>
          <p:cNvSpPr/>
          <p:nvPr/>
        </p:nvSpPr>
        <p:spPr>
          <a:xfrm>
            <a:off x="7132320" y="2359152"/>
            <a:ext cx="4297680" cy="777240"/>
          </a:xfrm>
          <a:prstGeom prst="rect">
            <a:avLst/>
          </a:prstGeom>
          <a:noFill/>
          <a:ln/>
        </p:spPr>
        <p:txBody>
          <a:bodyPr wrap="square" rtlCol="0" anchor="ctr"/>
          <a:lstStyle/>
          <a:p>
            <a:pPr indent="0" marL="0">
              <a:lnSpc>
                <a:spcPct val="115000"/>
              </a:lnSpc>
              <a:buNone/>
            </a:pPr>
            <a:r>
              <a:rPr lang="en-US" sz="1150" dirty="0">
                <a:solidFill>
                  <a:srgbClr val="2C2C2C"/>
                </a:solidFill>
                <a:latin typeface="Calibri" pitchFamily="34" charset="0"/>
                <a:ea typeface="Calibri" pitchFamily="34" charset="-122"/>
                <a:cs typeface="Calibri" pitchFamily="34" charset="-120"/>
              </a:rPr>
              <a:t>Deterministic field checks before anything costs an AI call</a:t>
            </a:r>
            <a:endParaRPr lang="en-US" sz="1150" dirty="0"/>
          </a:p>
        </p:txBody>
      </p:sp>
      <p:sp>
        <p:nvSpPr>
          <p:cNvPr id="14" name="Shape 12"/>
          <p:cNvSpPr/>
          <p:nvPr/>
        </p:nvSpPr>
        <p:spPr>
          <a:xfrm>
            <a:off x="640080" y="3474720"/>
            <a:ext cx="5349240" cy="1417320"/>
          </a:xfrm>
          <a:prstGeom prst="roundRect">
            <a:avLst>
              <a:gd name="adj" fmla="val 6452"/>
            </a:avLst>
          </a:prstGeom>
          <a:solidFill>
            <a:srgbClr val="EEF3F4"/>
          </a:solidFill>
          <a:ln/>
        </p:spPr>
      </p:sp>
      <p:sp>
        <p:nvSpPr>
          <p:cNvPr id="15" name="Shape 13"/>
          <p:cNvSpPr/>
          <p:nvPr/>
        </p:nvSpPr>
        <p:spPr>
          <a:xfrm>
            <a:off x="868680" y="3730752"/>
            <a:ext cx="502920" cy="502920"/>
          </a:xfrm>
          <a:prstGeom prst="ellipse">
            <a:avLst/>
          </a:prstGeom>
          <a:solidFill>
            <a:srgbClr val="1F7A8C"/>
          </a:solidFill>
          <a:ln/>
        </p:spPr>
      </p:sp>
      <p:sp>
        <p:nvSpPr>
          <p:cNvPr id="16" name="Text 14"/>
          <p:cNvSpPr/>
          <p:nvPr/>
        </p:nvSpPr>
        <p:spPr>
          <a:xfrm>
            <a:off x="868680" y="373075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508760" y="3639312"/>
            <a:ext cx="434340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AI Scoring</a:t>
            </a:r>
            <a:endParaRPr lang="en-US" sz="1500" dirty="0"/>
          </a:p>
        </p:txBody>
      </p:sp>
      <p:sp>
        <p:nvSpPr>
          <p:cNvPr id="18" name="Text 16"/>
          <p:cNvSpPr/>
          <p:nvPr/>
        </p:nvSpPr>
        <p:spPr>
          <a:xfrm>
            <a:off x="1508760" y="4005072"/>
            <a:ext cx="4297680" cy="777240"/>
          </a:xfrm>
          <a:prstGeom prst="rect">
            <a:avLst/>
          </a:prstGeom>
          <a:noFill/>
          <a:ln/>
        </p:spPr>
        <p:txBody>
          <a:bodyPr wrap="square" rtlCol="0" anchor="ctr"/>
          <a:lstStyle/>
          <a:p>
            <a:pPr indent="0" marL="0">
              <a:lnSpc>
                <a:spcPct val="115000"/>
              </a:lnSpc>
              <a:buNone/>
            </a:pPr>
            <a:r>
              <a:rPr lang="en-US" sz="1150" dirty="0">
                <a:solidFill>
                  <a:srgbClr val="2C2C2C"/>
                </a:solidFill>
                <a:latin typeface="Calibri" pitchFamily="34" charset="0"/>
                <a:ea typeface="Calibri" pitchFamily="34" charset="-122"/>
                <a:cs typeface="Calibri" pitchFamily="34" charset="-120"/>
              </a:rPr>
              <a:t>Gemini extracts skills and scores candidate fit, with reasoning</a:t>
            </a:r>
            <a:endParaRPr lang="en-US" sz="1150" dirty="0"/>
          </a:p>
        </p:txBody>
      </p:sp>
      <p:sp>
        <p:nvSpPr>
          <p:cNvPr id="19" name="Shape 17"/>
          <p:cNvSpPr/>
          <p:nvPr/>
        </p:nvSpPr>
        <p:spPr>
          <a:xfrm>
            <a:off x="6263640" y="3474720"/>
            <a:ext cx="5349240" cy="1417320"/>
          </a:xfrm>
          <a:prstGeom prst="roundRect">
            <a:avLst>
              <a:gd name="adj" fmla="val 6452"/>
            </a:avLst>
          </a:prstGeom>
          <a:solidFill>
            <a:srgbClr val="EEF3F4"/>
          </a:solidFill>
          <a:ln/>
        </p:spPr>
      </p:sp>
      <p:sp>
        <p:nvSpPr>
          <p:cNvPr id="20" name="Shape 18"/>
          <p:cNvSpPr/>
          <p:nvPr/>
        </p:nvSpPr>
        <p:spPr>
          <a:xfrm>
            <a:off x="6492240" y="3730752"/>
            <a:ext cx="502920" cy="502920"/>
          </a:xfrm>
          <a:prstGeom prst="ellipse">
            <a:avLst/>
          </a:prstGeom>
          <a:solidFill>
            <a:srgbClr val="1F7A8C"/>
          </a:solidFill>
          <a:ln/>
        </p:spPr>
      </p:sp>
      <p:sp>
        <p:nvSpPr>
          <p:cNvPr id="21" name="Text 19"/>
          <p:cNvSpPr/>
          <p:nvPr/>
        </p:nvSpPr>
        <p:spPr>
          <a:xfrm>
            <a:off x="6492240" y="373075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7132320" y="3639312"/>
            <a:ext cx="434340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Rule Engine</a:t>
            </a:r>
            <a:endParaRPr lang="en-US" sz="1500" dirty="0"/>
          </a:p>
        </p:txBody>
      </p:sp>
      <p:sp>
        <p:nvSpPr>
          <p:cNvPr id="23" name="Text 21"/>
          <p:cNvSpPr/>
          <p:nvPr/>
        </p:nvSpPr>
        <p:spPr>
          <a:xfrm>
            <a:off x="7132320" y="4005072"/>
            <a:ext cx="4297680" cy="777240"/>
          </a:xfrm>
          <a:prstGeom prst="rect">
            <a:avLst/>
          </a:prstGeom>
          <a:noFill/>
          <a:ln/>
        </p:spPr>
        <p:txBody>
          <a:bodyPr wrap="square" rtlCol="0" anchor="ctr"/>
          <a:lstStyle/>
          <a:p>
            <a:pPr indent="0" marL="0">
              <a:lnSpc>
                <a:spcPct val="115000"/>
              </a:lnSpc>
              <a:buNone/>
            </a:pPr>
            <a:r>
              <a:rPr lang="en-US" sz="1150" dirty="0">
                <a:solidFill>
                  <a:srgbClr val="2C2C2C"/>
                </a:solidFill>
                <a:latin typeface="Calibri" pitchFamily="34" charset="0"/>
                <a:ea typeface="Calibri" pitchFamily="34" charset="-122"/>
                <a:cs typeface="Calibri" pitchFamily="34" charset="-120"/>
              </a:rPr>
              <a:t>A deterministic rule score cross-checks the AI's recommendation</a:t>
            </a:r>
            <a:endParaRPr lang="en-US" sz="1150" dirty="0"/>
          </a:p>
        </p:txBody>
      </p:sp>
      <p:sp>
        <p:nvSpPr>
          <p:cNvPr id="24" name="Shape 22"/>
          <p:cNvSpPr/>
          <p:nvPr/>
        </p:nvSpPr>
        <p:spPr>
          <a:xfrm>
            <a:off x="640080" y="5120640"/>
            <a:ext cx="5349240" cy="1417320"/>
          </a:xfrm>
          <a:prstGeom prst="roundRect">
            <a:avLst>
              <a:gd name="adj" fmla="val 6452"/>
            </a:avLst>
          </a:prstGeom>
          <a:solidFill>
            <a:srgbClr val="EEF3F4"/>
          </a:solidFill>
          <a:ln/>
        </p:spPr>
      </p:sp>
      <p:sp>
        <p:nvSpPr>
          <p:cNvPr id="25" name="Shape 23"/>
          <p:cNvSpPr/>
          <p:nvPr/>
        </p:nvSpPr>
        <p:spPr>
          <a:xfrm>
            <a:off x="868680" y="5376672"/>
            <a:ext cx="502920" cy="502920"/>
          </a:xfrm>
          <a:prstGeom prst="ellipse">
            <a:avLst/>
          </a:prstGeom>
          <a:solidFill>
            <a:srgbClr val="1F7A8C"/>
          </a:solidFill>
          <a:ln/>
        </p:spPr>
      </p:sp>
      <p:sp>
        <p:nvSpPr>
          <p:cNvPr id="26" name="Text 24"/>
          <p:cNvSpPr/>
          <p:nvPr/>
        </p:nvSpPr>
        <p:spPr>
          <a:xfrm>
            <a:off x="868680" y="537667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1508760" y="5285232"/>
            <a:ext cx="434340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Human Review</a:t>
            </a:r>
            <a:endParaRPr lang="en-US" sz="1500" dirty="0"/>
          </a:p>
        </p:txBody>
      </p:sp>
      <p:sp>
        <p:nvSpPr>
          <p:cNvPr id="28" name="Text 26"/>
          <p:cNvSpPr/>
          <p:nvPr/>
        </p:nvSpPr>
        <p:spPr>
          <a:xfrm>
            <a:off x="1508760" y="5650992"/>
            <a:ext cx="4297680" cy="777240"/>
          </a:xfrm>
          <a:prstGeom prst="rect">
            <a:avLst/>
          </a:prstGeom>
          <a:noFill/>
          <a:ln/>
        </p:spPr>
        <p:txBody>
          <a:bodyPr wrap="square" rtlCol="0" anchor="ctr"/>
          <a:lstStyle/>
          <a:p>
            <a:pPr indent="0" marL="0">
              <a:lnSpc>
                <a:spcPct val="115000"/>
              </a:lnSpc>
              <a:buNone/>
            </a:pPr>
            <a:r>
              <a:rPr lang="en-US" sz="1150" dirty="0">
                <a:solidFill>
                  <a:srgbClr val="2C2C2C"/>
                </a:solidFill>
                <a:latin typeface="Calibri" pitchFamily="34" charset="0"/>
                <a:ea typeface="Calibri" pitchFamily="34" charset="-122"/>
                <a:cs typeface="Calibri" pitchFamily="34" charset="-120"/>
              </a:rPr>
              <a:t>Recruiter sees both scores and makes the final call</a:t>
            </a:r>
            <a:endParaRPr lang="en-US" sz="1150" dirty="0"/>
          </a:p>
        </p:txBody>
      </p:sp>
      <p:sp>
        <p:nvSpPr>
          <p:cNvPr id="29" name="Shape 27"/>
          <p:cNvSpPr/>
          <p:nvPr/>
        </p:nvSpPr>
        <p:spPr>
          <a:xfrm>
            <a:off x="6263640" y="5120640"/>
            <a:ext cx="5349240" cy="1417320"/>
          </a:xfrm>
          <a:prstGeom prst="roundRect">
            <a:avLst>
              <a:gd name="adj" fmla="val 6452"/>
            </a:avLst>
          </a:prstGeom>
          <a:solidFill>
            <a:srgbClr val="EEF3F4"/>
          </a:solidFill>
          <a:ln/>
        </p:spPr>
      </p:sp>
      <p:sp>
        <p:nvSpPr>
          <p:cNvPr id="30" name="Shape 28"/>
          <p:cNvSpPr/>
          <p:nvPr/>
        </p:nvSpPr>
        <p:spPr>
          <a:xfrm>
            <a:off x="6492240" y="5376672"/>
            <a:ext cx="502920" cy="502920"/>
          </a:xfrm>
          <a:prstGeom prst="ellipse">
            <a:avLst/>
          </a:prstGeom>
          <a:solidFill>
            <a:srgbClr val="1F7A8C"/>
          </a:solidFill>
          <a:ln/>
        </p:spPr>
      </p:sp>
      <p:sp>
        <p:nvSpPr>
          <p:cNvPr id="31" name="Text 29"/>
          <p:cNvSpPr/>
          <p:nvPr/>
        </p:nvSpPr>
        <p:spPr>
          <a:xfrm>
            <a:off x="6492240" y="5376672"/>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7132320" y="5285232"/>
            <a:ext cx="434340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Notify &amp; Store</a:t>
            </a:r>
            <a:endParaRPr lang="en-US" sz="1500" dirty="0"/>
          </a:p>
        </p:txBody>
      </p:sp>
      <p:sp>
        <p:nvSpPr>
          <p:cNvPr id="33" name="Text 31"/>
          <p:cNvSpPr/>
          <p:nvPr/>
        </p:nvSpPr>
        <p:spPr>
          <a:xfrm>
            <a:off x="7132320" y="5650992"/>
            <a:ext cx="4297680" cy="777240"/>
          </a:xfrm>
          <a:prstGeom prst="rect">
            <a:avLst/>
          </a:prstGeom>
          <a:noFill/>
          <a:ln/>
        </p:spPr>
        <p:txBody>
          <a:bodyPr wrap="square" rtlCol="0" anchor="ctr"/>
          <a:lstStyle/>
          <a:p>
            <a:pPr indent="0" marL="0">
              <a:lnSpc>
                <a:spcPct val="115000"/>
              </a:lnSpc>
              <a:buNone/>
            </a:pPr>
            <a:r>
              <a:rPr lang="en-US" sz="1150" dirty="0">
                <a:solidFill>
                  <a:srgbClr val="2C2C2C"/>
                </a:solidFill>
                <a:latin typeface="Calibri" pitchFamily="34" charset="0"/>
                <a:ea typeface="Calibri" pitchFamily="34" charset="-122"/>
                <a:cs typeface="Calibri" pitchFamily="34" charset="-120"/>
              </a:rPr>
              <a:t>Candidate notified by email; Supabase records the full audit trail</a:t>
            </a:r>
            <a:endParaRPr lang="en-US" sz="1150" dirty="0"/>
          </a:p>
        </p:txBody>
      </p:sp>
      <p:sp>
        <p:nvSpPr>
          <p:cNvPr id="34" name="Text 32"/>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35" name="Text 33"/>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Solution Architecture</a:t>
            </a:r>
            <a:endParaRPr lang="en-US" sz="3200" dirty="0"/>
          </a:p>
        </p:txBody>
      </p:sp>
      <p:sp>
        <p:nvSpPr>
          <p:cNvPr id="3" name="Text 1"/>
          <p:cNvSpPr/>
          <p:nvPr/>
        </p:nvSpPr>
        <p:spPr>
          <a:xfrm>
            <a:off x="640080" y="1051560"/>
            <a:ext cx="5120640" cy="1188720"/>
          </a:xfrm>
          <a:prstGeom prst="rect">
            <a:avLst/>
          </a:prstGeom>
          <a:noFill/>
          <a:ln/>
        </p:spPr>
        <p:txBody>
          <a:bodyPr wrap="square" rtlCol="0" anchor="ctr"/>
          <a:lstStyle/>
          <a:p>
            <a:pPr indent="0" marL="0">
              <a:lnSpc>
                <a:spcPct val="130000"/>
              </a:lnSpc>
              <a:buNone/>
            </a:pPr>
            <a:r>
              <a:rPr lang="en-US" sz="1350" dirty="0">
                <a:solidFill>
                  <a:srgbClr val="2C2C2C"/>
                </a:solidFill>
                <a:latin typeface="Calibri" pitchFamily="34" charset="0"/>
                <a:ea typeface="Calibri" pitchFamily="34" charset="-122"/>
                <a:cs typeface="Calibri" pitchFamily="34" charset="-120"/>
              </a:rPr>
              <a:t>Seven stages carry the candidate from submission to a recorded, human-approved outcome. Teal stages are AI-driven; every other stage is deterministic.</a:t>
            </a:r>
            <a:endParaRPr lang="en-US" sz="1350" dirty="0"/>
          </a:p>
        </p:txBody>
      </p:sp>
      <p:sp>
        <p:nvSpPr>
          <p:cNvPr id="4" name="Shape 2"/>
          <p:cNvSpPr/>
          <p:nvPr/>
        </p:nvSpPr>
        <p:spPr>
          <a:xfrm>
            <a:off x="640080" y="2468880"/>
            <a:ext cx="384048" cy="384048"/>
          </a:xfrm>
          <a:prstGeom prst="ellipse">
            <a:avLst/>
          </a:prstGeom>
          <a:solidFill>
            <a:srgbClr val="1F7A8C"/>
          </a:solidFill>
          <a:ln/>
        </p:spPr>
      </p:sp>
      <p:sp>
        <p:nvSpPr>
          <p:cNvPr id="5" name="Text 3"/>
          <p:cNvSpPr/>
          <p:nvPr/>
        </p:nvSpPr>
        <p:spPr>
          <a:xfrm>
            <a:off x="640080" y="2468880"/>
            <a:ext cx="384048" cy="38404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188720" y="2423160"/>
            <a:ext cx="4389120" cy="320040"/>
          </a:xfrm>
          <a:prstGeom prst="rect">
            <a:avLst/>
          </a:prstGeom>
          <a:noFill/>
          <a:ln/>
        </p:spPr>
        <p:txBody>
          <a:bodyPr wrap="square" rtlCol="0" anchor="ctr"/>
          <a:lstStyle/>
          <a:p>
            <a:pPr indent="0" marL="0">
              <a:buNone/>
            </a:pPr>
            <a:r>
              <a:rPr lang="en-US" sz="1350" b="1" dirty="0">
                <a:solidFill>
                  <a:srgbClr val="1F3B57"/>
                </a:solidFill>
                <a:latin typeface="Calibri" pitchFamily="34" charset="0"/>
                <a:ea typeface="Calibri" pitchFamily="34" charset="-122"/>
                <a:cs typeface="Calibri" pitchFamily="34" charset="-120"/>
              </a:rPr>
              <a:t>Trigger</a:t>
            </a:r>
            <a:endParaRPr lang="en-US" sz="1350" dirty="0"/>
          </a:p>
        </p:txBody>
      </p:sp>
      <p:sp>
        <p:nvSpPr>
          <p:cNvPr id="7" name="Text 5"/>
          <p:cNvSpPr/>
          <p:nvPr/>
        </p:nvSpPr>
        <p:spPr>
          <a:xfrm>
            <a:off x="1188720" y="2743200"/>
            <a:ext cx="4480560" cy="50292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n8n Form Trigger collects a 6-field application</a:t>
            </a:r>
            <a:endParaRPr lang="en-US" sz="1150" dirty="0"/>
          </a:p>
        </p:txBody>
      </p:sp>
      <p:sp>
        <p:nvSpPr>
          <p:cNvPr id="8" name="Shape 6"/>
          <p:cNvSpPr/>
          <p:nvPr/>
        </p:nvSpPr>
        <p:spPr>
          <a:xfrm>
            <a:off x="640080" y="3364992"/>
            <a:ext cx="384048" cy="384048"/>
          </a:xfrm>
          <a:prstGeom prst="ellipse">
            <a:avLst/>
          </a:prstGeom>
          <a:solidFill>
            <a:srgbClr val="1F7A8C"/>
          </a:solidFill>
          <a:ln/>
        </p:spPr>
      </p:sp>
      <p:sp>
        <p:nvSpPr>
          <p:cNvPr id="9" name="Text 7"/>
          <p:cNvSpPr/>
          <p:nvPr/>
        </p:nvSpPr>
        <p:spPr>
          <a:xfrm>
            <a:off x="640080" y="3364992"/>
            <a:ext cx="384048" cy="38404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1188720" y="3319272"/>
            <a:ext cx="4389120" cy="320040"/>
          </a:xfrm>
          <a:prstGeom prst="rect">
            <a:avLst/>
          </a:prstGeom>
          <a:noFill/>
          <a:ln/>
        </p:spPr>
        <p:txBody>
          <a:bodyPr wrap="square" rtlCol="0" anchor="ctr"/>
          <a:lstStyle/>
          <a:p>
            <a:pPr indent="0" marL="0">
              <a:buNone/>
            </a:pPr>
            <a:r>
              <a:rPr lang="en-US" sz="1350" b="1" dirty="0">
                <a:solidFill>
                  <a:srgbClr val="1F3B57"/>
                </a:solidFill>
                <a:latin typeface="Calibri" pitchFamily="34" charset="0"/>
                <a:ea typeface="Calibri" pitchFamily="34" charset="-122"/>
                <a:cs typeface="Calibri" pitchFamily="34" charset="-120"/>
              </a:rPr>
              <a:t>Storage</a:t>
            </a:r>
            <a:endParaRPr lang="en-US" sz="1350" dirty="0"/>
          </a:p>
        </p:txBody>
      </p:sp>
      <p:sp>
        <p:nvSpPr>
          <p:cNvPr id="11" name="Text 9"/>
          <p:cNvSpPr/>
          <p:nvPr/>
        </p:nvSpPr>
        <p:spPr>
          <a:xfrm>
            <a:off x="1188720" y="3639312"/>
            <a:ext cx="4480560" cy="50292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Supabase Postgres — full candidate + decision history</a:t>
            </a:r>
            <a:endParaRPr lang="en-US" sz="1150" dirty="0"/>
          </a:p>
        </p:txBody>
      </p:sp>
      <p:sp>
        <p:nvSpPr>
          <p:cNvPr id="12" name="Shape 10"/>
          <p:cNvSpPr/>
          <p:nvPr/>
        </p:nvSpPr>
        <p:spPr>
          <a:xfrm>
            <a:off x="640080" y="4261104"/>
            <a:ext cx="384048" cy="384048"/>
          </a:xfrm>
          <a:prstGeom prst="ellipse">
            <a:avLst/>
          </a:prstGeom>
          <a:solidFill>
            <a:srgbClr val="1F7A8C"/>
          </a:solidFill>
          <a:ln/>
        </p:spPr>
      </p:sp>
      <p:sp>
        <p:nvSpPr>
          <p:cNvPr id="13" name="Text 11"/>
          <p:cNvSpPr/>
          <p:nvPr/>
        </p:nvSpPr>
        <p:spPr>
          <a:xfrm>
            <a:off x="640080" y="4261104"/>
            <a:ext cx="384048" cy="38404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188720" y="4215384"/>
            <a:ext cx="4389120" cy="320040"/>
          </a:xfrm>
          <a:prstGeom prst="rect">
            <a:avLst/>
          </a:prstGeom>
          <a:noFill/>
          <a:ln/>
        </p:spPr>
        <p:txBody>
          <a:bodyPr wrap="square" rtlCol="0" anchor="ctr"/>
          <a:lstStyle/>
          <a:p>
            <a:pPr indent="0" marL="0">
              <a:buNone/>
            </a:pPr>
            <a:r>
              <a:rPr lang="en-US" sz="1350" b="1" dirty="0">
                <a:solidFill>
                  <a:srgbClr val="1F3B57"/>
                </a:solidFill>
                <a:latin typeface="Calibri" pitchFamily="34" charset="0"/>
                <a:ea typeface="Calibri" pitchFamily="34" charset="-122"/>
                <a:cs typeface="Calibri" pitchFamily="34" charset="-120"/>
              </a:rPr>
              <a:t>AI layer</a:t>
            </a:r>
            <a:endParaRPr lang="en-US" sz="1350" dirty="0"/>
          </a:p>
        </p:txBody>
      </p:sp>
      <p:sp>
        <p:nvSpPr>
          <p:cNvPr id="15" name="Text 13"/>
          <p:cNvSpPr/>
          <p:nvPr/>
        </p:nvSpPr>
        <p:spPr>
          <a:xfrm>
            <a:off x="1188720" y="4535424"/>
            <a:ext cx="4480560" cy="50292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Google Gemini scores fit with structured, reasoned output</a:t>
            </a:r>
            <a:endParaRPr lang="en-US" sz="1150" dirty="0"/>
          </a:p>
        </p:txBody>
      </p:sp>
      <p:sp>
        <p:nvSpPr>
          <p:cNvPr id="16" name="Shape 14"/>
          <p:cNvSpPr/>
          <p:nvPr/>
        </p:nvSpPr>
        <p:spPr>
          <a:xfrm>
            <a:off x="640080" y="5157216"/>
            <a:ext cx="384048" cy="384048"/>
          </a:xfrm>
          <a:prstGeom prst="ellipse">
            <a:avLst/>
          </a:prstGeom>
          <a:solidFill>
            <a:srgbClr val="1F7A8C"/>
          </a:solidFill>
          <a:ln/>
        </p:spPr>
      </p:sp>
      <p:sp>
        <p:nvSpPr>
          <p:cNvPr id="17" name="Text 15"/>
          <p:cNvSpPr/>
          <p:nvPr/>
        </p:nvSpPr>
        <p:spPr>
          <a:xfrm>
            <a:off x="640080" y="5157216"/>
            <a:ext cx="384048" cy="38404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1188720" y="5111496"/>
            <a:ext cx="4389120" cy="320040"/>
          </a:xfrm>
          <a:prstGeom prst="rect">
            <a:avLst/>
          </a:prstGeom>
          <a:noFill/>
          <a:ln/>
        </p:spPr>
        <p:txBody>
          <a:bodyPr wrap="square" rtlCol="0" anchor="ctr"/>
          <a:lstStyle/>
          <a:p>
            <a:pPr indent="0" marL="0">
              <a:buNone/>
            </a:pPr>
            <a:r>
              <a:rPr lang="en-US" sz="1350" b="1" dirty="0">
                <a:solidFill>
                  <a:srgbClr val="1F3B57"/>
                </a:solidFill>
                <a:latin typeface="Calibri" pitchFamily="34" charset="0"/>
                <a:ea typeface="Calibri" pitchFamily="34" charset="-122"/>
                <a:cs typeface="Calibri" pitchFamily="34" charset="-120"/>
              </a:rPr>
              <a:t>Approval gate</a:t>
            </a:r>
            <a:endParaRPr lang="en-US" sz="1350" dirty="0"/>
          </a:p>
        </p:txBody>
      </p:sp>
      <p:sp>
        <p:nvSpPr>
          <p:cNvPr id="19" name="Text 17"/>
          <p:cNvSpPr/>
          <p:nvPr/>
        </p:nvSpPr>
        <p:spPr>
          <a:xfrm>
            <a:off x="1188720" y="5431536"/>
            <a:ext cx="4480560" cy="50292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Wait node pauses until a human decides</a:t>
            </a:r>
            <a:endParaRPr lang="en-US" sz="1150" dirty="0"/>
          </a:p>
        </p:txBody>
      </p:sp>
      <p:pic>
        <p:nvPicPr>
          <p:cNvPr id="20" name="Image 0" descr="/home/claude/deck_assets/Architecture-Diagram.png">    </p:cNvPr>
          <p:cNvPicPr>
            <a:picLocks noChangeAspect="1"/>
          </p:cNvPicPr>
          <p:nvPr/>
        </p:nvPicPr>
        <p:blipFill>
          <a:blip r:embed="rId1"/>
          <a:stretch>
            <a:fillRect/>
          </a:stretch>
        </p:blipFill>
        <p:spPr>
          <a:xfrm>
            <a:off x="6263640" y="868680"/>
            <a:ext cx="4005295" cy="5806440"/>
          </a:xfrm>
          <a:prstGeom prst="rect">
            <a:avLst/>
          </a:prstGeom>
        </p:spPr>
      </p:pic>
      <p:sp>
        <p:nvSpPr>
          <p:cNvPr id="21" name="Text 18"/>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22" name="Text 19"/>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Technologies &amp; Components</a:t>
            </a:r>
            <a:endParaRPr lang="en-US" sz="3200" dirty="0"/>
          </a:p>
        </p:txBody>
      </p:sp>
      <p:sp>
        <p:nvSpPr>
          <p:cNvPr id="3" name="Text 1"/>
          <p:cNvSpPr/>
          <p:nvPr/>
        </p:nvSpPr>
        <p:spPr>
          <a:xfrm>
            <a:off x="640080" y="1371600"/>
            <a:ext cx="2377440" cy="365760"/>
          </a:xfrm>
          <a:prstGeom prst="rect">
            <a:avLst/>
          </a:prstGeom>
          <a:solidFill>
            <a:srgbClr val="1F3B57"/>
          </a:solid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p>
        </p:txBody>
      </p:sp>
      <p:sp>
        <p:nvSpPr>
          <p:cNvPr id="4" name="Text 2"/>
          <p:cNvSpPr/>
          <p:nvPr/>
        </p:nvSpPr>
        <p:spPr>
          <a:xfrm>
            <a:off x="3017520" y="1371600"/>
            <a:ext cx="2743200" cy="365760"/>
          </a:xfrm>
          <a:prstGeom prst="rect">
            <a:avLst/>
          </a:prstGeom>
          <a:solidFill>
            <a:srgbClr val="1F3B57"/>
          </a:solid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p>
        </p:txBody>
      </p:sp>
      <p:sp>
        <p:nvSpPr>
          <p:cNvPr id="5" name="Text 3"/>
          <p:cNvSpPr/>
          <p:nvPr/>
        </p:nvSpPr>
        <p:spPr>
          <a:xfrm>
            <a:off x="5760720" y="1371600"/>
            <a:ext cx="5760720" cy="365760"/>
          </a:xfrm>
          <a:prstGeom prst="rect">
            <a:avLst/>
          </a:prstGeom>
          <a:solidFill>
            <a:srgbClr val="1F3B57"/>
          </a:solid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Role in the pipeline</a:t>
            </a:r>
            <a:endParaRPr lang="en-US" sz="1300" dirty="0"/>
          </a:p>
        </p:txBody>
      </p:sp>
      <p:sp>
        <p:nvSpPr>
          <p:cNvPr id="6" name="Shape 4"/>
          <p:cNvSpPr/>
          <p:nvPr/>
        </p:nvSpPr>
        <p:spPr>
          <a:xfrm>
            <a:off x="640080" y="1737360"/>
            <a:ext cx="2377440" cy="1051560"/>
          </a:xfrm>
          <a:prstGeom prst="rect">
            <a:avLst/>
          </a:prstGeom>
          <a:solidFill>
            <a:srgbClr val="EEF3F4"/>
          </a:solidFill>
          <a:ln w="9525">
            <a:solidFill>
              <a:srgbClr val="E1E6E8"/>
            </a:solidFill>
            <a:prstDash val="solid"/>
          </a:ln>
        </p:spPr>
      </p:sp>
      <p:sp>
        <p:nvSpPr>
          <p:cNvPr id="7" name="Text 5"/>
          <p:cNvSpPr/>
          <p:nvPr/>
        </p:nvSpPr>
        <p:spPr>
          <a:xfrm>
            <a:off x="777240" y="1737360"/>
            <a:ext cx="2103120" cy="1051560"/>
          </a:xfrm>
          <a:prstGeom prst="rect">
            <a:avLst/>
          </a:prstGeom>
          <a:noFill/>
          <a:ln/>
        </p:spPr>
        <p:txBody>
          <a:bodyPr wrap="square" rtlCol="0" anchor="ctr"/>
          <a:lstStyle/>
          <a:p>
            <a:pPr indent="0" marL="0">
              <a:lnSpc>
                <a:spcPct val="110000"/>
              </a:lnSpc>
              <a:buNone/>
            </a:pPr>
            <a:r>
              <a:rPr lang="en-US" sz="1250" b="1" dirty="0">
                <a:solidFill>
                  <a:srgbClr val="1F7A8C"/>
                </a:solidFill>
                <a:latin typeface="Calibri" pitchFamily="34" charset="0"/>
                <a:ea typeface="Calibri" pitchFamily="34" charset="-122"/>
                <a:cs typeface="Calibri" pitchFamily="34" charset="-120"/>
              </a:rPr>
              <a:t>Orchestration</a:t>
            </a:r>
            <a:endParaRPr lang="en-US" sz="1250" dirty="0"/>
          </a:p>
        </p:txBody>
      </p:sp>
      <p:sp>
        <p:nvSpPr>
          <p:cNvPr id="8" name="Shape 6"/>
          <p:cNvSpPr/>
          <p:nvPr/>
        </p:nvSpPr>
        <p:spPr>
          <a:xfrm>
            <a:off x="3017520" y="1737360"/>
            <a:ext cx="2743200" cy="1051560"/>
          </a:xfrm>
          <a:prstGeom prst="rect">
            <a:avLst/>
          </a:prstGeom>
          <a:solidFill>
            <a:srgbClr val="EEF3F4"/>
          </a:solidFill>
          <a:ln w="9525">
            <a:solidFill>
              <a:srgbClr val="E1E6E8"/>
            </a:solidFill>
            <a:prstDash val="solid"/>
          </a:ln>
        </p:spPr>
      </p:sp>
      <p:sp>
        <p:nvSpPr>
          <p:cNvPr id="9" name="Text 7"/>
          <p:cNvSpPr/>
          <p:nvPr/>
        </p:nvSpPr>
        <p:spPr>
          <a:xfrm>
            <a:off x="3154680" y="1737360"/>
            <a:ext cx="246888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n8n (self-hosted)</a:t>
            </a:r>
            <a:endParaRPr lang="en-US" sz="1200" dirty="0"/>
          </a:p>
        </p:txBody>
      </p:sp>
      <p:sp>
        <p:nvSpPr>
          <p:cNvPr id="10" name="Shape 8"/>
          <p:cNvSpPr/>
          <p:nvPr/>
        </p:nvSpPr>
        <p:spPr>
          <a:xfrm>
            <a:off x="5760720" y="1737360"/>
            <a:ext cx="5760720" cy="1051560"/>
          </a:xfrm>
          <a:prstGeom prst="rect">
            <a:avLst/>
          </a:prstGeom>
          <a:solidFill>
            <a:srgbClr val="EEF3F4"/>
          </a:solidFill>
          <a:ln w="9525">
            <a:solidFill>
              <a:srgbClr val="E1E6E8"/>
            </a:solidFill>
            <a:prstDash val="solid"/>
          </a:ln>
        </p:spPr>
      </p:sp>
      <p:sp>
        <p:nvSpPr>
          <p:cNvPr id="11" name="Text 9"/>
          <p:cNvSpPr/>
          <p:nvPr/>
        </p:nvSpPr>
        <p:spPr>
          <a:xfrm>
            <a:off x="5897880" y="1737360"/>
            <a:ext cx="548640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Form Trigger, Code, If, Switch, Wait, Postgres, Send Email nodes</a:t>
            </a:r>
            <a:endParaRPr lang="en-US" sz="1200" dirty="0"/>
          </a:p>
        </p:txBody>
      </p:sp>
      <p:sp>
        <p:nvSpPr>
          <p:cNvPr id="12" name="Shape 10"/>
          <p:cNvSpPr/>
          <p:nvPr/>
        </p:nvSpPr>
        <p:spPr>
          <a:xfrm>
            <a:off x="640080" y="2788920"/>
            <a:ext cx="2377440" cy="1051560"/>
          </a:xfrm>
          <a:prstGeom prst="rect">
            <a:avLst/>
          </a:prstGeom>
          <a:solidFill>
            <a:srgbClr val="FFFFFF"/>
          </a:solidFill>
          <a:ln w="9525">
            <a:solidFill>
              <a:srgbClr val="E1E6E8"/>
            </a:solidFill>
            <a:prstDash val="solid"/>
          </a:ln>
        </p:spPr>
      </p:sp>
      <p:sp>
        <p:nvSpPr>
          <p:cNvPr id="13" name="Text 11"/>
          <p:cNvSpPr/>
          <p:nvPr/>
        </p:nvSpPr>
        <p:spPr>
          <a:xfrm>
            <a:off x="777240" y="2788920"/>
            <a:ext cx="2103120" cy="1051560"/>
          </a:xfrm>
          <a:prstGeom prst="rect">
            <a:avLst/>
          </a:prstGeom>
          <a:noFill/>
          <a:ln/>
        </p:spPr>
        <p:txBody>
          <a:bodyPr wrap="square" rtlCol="0" anchor="ctr"/>
          <a:lstStyle/>
          <a:p>
            <a:pPr indent="0" marL="0">
              <a:lnSpc>
                <a:spcPct val="110000"/>
              </a:lnSpc>
              <a:buNone/>
            </a:pPr>
            <a:r>
              <a:rPr lang="en-US" sz="1250" b="1" dirty="0">
                <a:solidFill>
                  <a:srgbClr val="1F7A8C"/>
                </a:solidFill>
                <a:latin typeface="Calibri" pitchFamily="34" charset="0"/>
                <a:ea typeface="Calibri" pitchFamily="34" charset="-122"/>
                <a:cs typeface="Calibri" pitchFamily="34" charset="-120"/>
              </a:rPr>
              <a:t>AI / LLM</a:t>
            </a:r>
            <a:endParaRPr lang="en-US" sz="1250" dirty="0"/>
          </a:p>
        </p:txBody>
      </p:sp>
      <p:sp>
        <p:nvSpPr>
          <p:cNvPr id="14" name="Shape 12"/>
          <p:cNvSpPr/>
          <p:nvPr/>
        </p:nvSpPr>
        <p:spPr>
          <a:xfrm>
            <a:off x="3017520" y="2788920"/>
            <a:ext cx="2743200" cy="1051560"/>
          </a:xfrm>
          <a:prstGeom prst="rect">
            <a:avLst/>
          </a:prstGeom>
          <a:solidFill>
            <a:srgbClr val="FFFFFF"/>
          </a:solidFill>
          <a:ln w="9525">
            <a:solidFill>
              <a:srgbClr val="E1E6E8"/>
            </a:solidFill>
            <a:prstDash val="solid"/>
          </a:ln>
        </p:spPr>
      </p:sp>
      <p:sp>
        <p:nvSpPr>
          <p:cNvPr id="15" name="Text 13"/>
          <p:cNvSpPr/>
          <p:nvPr/>
        </p:nvSpPr>
        <p:spPr>
          <a:xfrm>
            <a:off x="3154680" y="2788920"/>
            <a:ext cx="246888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Google Gemini</a:t>
            </a:r>
            <a:endParaRPr lang="en-US" sz="1200" dirty="0"/>
          </a:p>
        </p:txBody>
      </p:sp>
      <p:sp>
        <p:nvSpPr>
          <p:cNvPr id="16" name="Shape 14"/>
          <p:cNvSpPr/>
          <p:nvPr/>
        </p:nvSpPr>
        <p:spPr>
          <a:xfrm>
            <a:off x="5760720" y="2788920"/>
            <a:ext cx="5760720" cy="1051560"/>
          </a:xfrm>
          <a:prstGeom prst="rect">
            <a:avLst/>
          </a:prstGeom>
          <a:solidFill>
            <a:srgbClr val="FFFFFF"/>
          </a:solidFill>
          <a:ln w="9525">
            <a:solidFill>
              <a:srgbClr val="E1E6E8"/>
            </a:solidFill>
            <a:prstDash val="solid"/>
          </a:ln>
        </p:spPr>
      </p:sp>
      <p:sp>
        <p:nvSpPr>
          <p:cNvPr id="17" name="Text 15"/>
          <p:cNvSpPr/>
          <p:nvPr/>
        </p:nvSpPr>
        <p:spPr>
          <a:xfrm>
            <a:off x="5897880" y="2788920"/>
            <a:ext cx="548640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Skills extraction, fit scoring, structured reasoning</a:t>
            </a:r>
            <a:endParaRPr lang="en-US" sz="1200" dirty="0"/>
          </a:p>
        </p:txBody>
      </p:sp>
      <p:sp>
        <p:nvSpPr>
          <p:cNvPr id="18" name="Shape 16"/>
          <p:cNvSpPr/>
          <p:nvPr/>
        </p:nvSpPr>
        <p:spPr>
          <a:xfrm>
            <a:off x="640080" y="3840480"/>
            <a:ext cx="2377440" cy="1051560"/>
          </a:xfrm>
          <a:prstGeom prst="rect">
            <a:avLst/>
          </a:prstGeom>
          <a:solidFill>
            <a:srgbClr val="EEF3F4"/>
          </a:solidFill>
          <a:ln w="9525">
            <a:solidFill>
              <a:srgbClr val="E1E6E8"/>
            </a:solidFill>
            <a:prstDash val="solid"/>
          </a:ln>
        </p:spPr>
      </p:sp>
      <p:sp>
        <p:nvSpPr>
          <p:cNvPr id="19" name="Text 17"/>
          <p:cNvSpPr/>
          <p:nvPr/>
        </p:nvSpPr>
        <p:spPr>
          <a:xfrm>
            <a:off x="777240" y="3840480"/>
            <a:ext cx="2103120" cy="1051560"/>
          </a:xfrm>
          <a:prstGeom prst="rect">
            <a:avLst/>
          </a:prstGeom>
          <a:noFill/>
          <a:ln/>
        </p:spPr>
        <p:txBody>
          <a:bodyPr wrap="square" rtlCol="0" anchor="ctr"/>
          <a:lstStyle/>
          <a:p>
            <a:pPr indent="0" marL="0">
              <a:lnSpc>
                <a:spcPct val="110000"/>
              </a:lnSpc>
              <a:buNone/>
            </a:pPr>
            <a:r>
              <a:rPr lang="en-US" sz="1250" b="1" dirty="0">
                <a:solidFill>
                  <a:srgbClr val="1F7A8C"/>
                </a:solidFill>
                <a:latin typeface="Calibri" pitchFamily="34" charset="0"/>
                <a:ea typeface="Calibri" pitchFamily="34" charset="-122"/>
                <a:cs typeface="Calibri" pitchFamily="34" charset="-120"/>
              </a:rPr>
              <a:t>Data storage</a:t>
            </a:r>
            <a:endParaRPr lang="en-US" sz="1250" dirty="0"/>
          </a:p>
        </p:txBody>
      </p:sp>
      <p:sp>
        <p:nvSpPr>
          <p:cNvPr id="20" name="Shape 18"/>
          <p:cNvSpPr/>
          <p:nvPr/>
        </p:nvSpPr>
        <p:spPr>
          <a:xfrm>
            <a:off x="3017520" y="3840480"/>
            <a:ext cx="2743200" cy="1051560"/>
          </a:xfrm>
          <a:prstGeom prst="rect">
            <a:avLst/>
          </a:prstGeom>
          <a:solidFill>
            <a:srgbClr val="EEF3F4"/>
          </a:solidFill>
          <a:ln w="9525">
            <a:solidFill>
              <a:srgbClr val="E1E6E8"/>
            </a:solidFill>
            <a:prstDash val="solid"/>
          </a:ln>
        </p:spPr>
      </p:sp>
      <p:sp>
        <p:nvSpPr>
          <p:cNvPr id="21" name="Text 19"/>
          <p:cNvSpPr/>
          <p:nvPr/>
        </p:nvSpPr>
        <p:spPr>
          <a:xfrm>
            <a:off x="3154680" y="3840480"/>
            <a:ext cx="246888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Supabase (Postgres)</a:t>
            </a:r>
            <a:endParaRPr lang="en-US" sz="1200" dirty="0"/>
          </a:p>
        </p:txBody>
      </p:sp>
      <p:sp>
        <p:nvSpPr>
          <p:cNvPr id="22" name="Shape 20"/>
          <p:cNvSpPr/>
          <p:nvPr/>
        </p:nvSpPr>
        <p:spPr>
          <a:xfrm>
            <a:off x="5760720" y="3840480"/>
            <a:ext cx="5760720" cy="1051560"/>
          </a:xfrm>
          <a:prstGeom prst="rect">
            <a:avLst/>
          </a:prstGeom>
          <a:solidFill>
            <a:srgbClr val="EEF3F4"/>
          </a:solidFill>
          <a:ln w="9525">
            <a:solidFill>
              <a:srgbClr val="E1E6E8"/>
            </a:solidFill>
            <a:prstDash val="solid"/>
          </a:ln>
        </p:spPr>
      </p:sp>
      <p:sp>
        <p:nvSpPr>
          <p:cNvPr id="23" name="Text 21"/>
          <p:cNvSpPr/>
          <p:nvPr/>
        </p:nvSpPr>
        <p:spPr>
          <a:xfrm>
            <a:off x="5897880" y="3840480"/>
            <a:ext cx="548640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Candidate records, scores, decisions, full audit trail</a:t>
            </a:r>
            <a:endParaRPr lang="en-US" sz="1200" dirty="0"/>
          </a:p>
        </p:txBody>
      </p:sp>
      <p:sp>
        <p:nvSpPr>
          <p:cNvPr id="24" name="Shape 22"/>
          <p:cNvSpPr/>
          <p:nvPr/>
        </p:nvSpPr>
        <p:spPr>
          <a:xfrm>
            <a:off x="640080" y="4892040"/>
            <a:ext cx="2377440" cy="1051560"/>
          </a:xfrm>
          <a:prstGeom prst="rect">
            <a:avLst/>
          </a:prstGeom>
          <a:solidFill>
            <a:srgbClr val="FFFFFF"/>
          </a:solidFill>
          <a:ln w="9525">
            <a:solidFill>
              <a:srgbClr val="E1E6E8"/>
            </a:solidFill>
            <a:prstDash val="solid"/>
          </a:ln>
        </p:spPr>
      </p:sp>
      <p:sp>
        <p:nvSpPr>
          <p:cNvPr id="25" name="Text 23"/>
          <p:cNvSpPr/>
          <p:nvPr/>
        </p:nvSpPr>
        <p:spPr>
          <a:xfrm>
            <a:off x="777240" y="4892040"/>
            <a:ext cx="2103120" cy="1051560"/>
          </a:xfrm>
          <a:prstGeom prst="rect">
            <a:avLst/>
          </a:prstGeom>
          <a:noFill/>
          <a:ln/>
        </p:spPr>
        <p:txBody>
          <a:bodyPr wrap="square" rtlCol="0" anchor="ctr"/>
          <a:lstStyle/>
          <a:p>
            <a:pPr indent="0" marL="0">
              <a:lnSpc>
                <a:spcPct val="110000"/>
              </a:lnSpc>
              <a:buNone/>
            </a:pPr>
            <a:r>
              <a:rPr lang="en-US" sz="1250" b="1" dirty="0">
                <a:solidFill>
                  <a:srgbClr val="1F7A8C"/>
                </a:solidFill>
                <a:latin typeface="Calibri" pitchFamily="34" charset="0"/>
                <a:ea typeface="Calibri" pitchFamily="34" charset="-122"/>
                <a:cs typeface="Calibri" pitchFamily="34" charset="-120"/>
              </a:rPr>
              <a:t>Notifications</a:t>
            </a:r>
            <a:endParaRPr lang="en-US" sz="1250" dirty="0"/>
          </a:p>
        </p:txBody>
      </p:sp>
      <p:sp>
        <p:nvSpPr>
          <p:cNvPr id="26" name="Shape 24"/>
          <p:cNvSpPr/>
          <p:nvPr/>
        </p:nvSpPr>
        <p:spPr>
          <a:xfrm>
            <a:off x="3017520" y="4892040"/>
            <a:ext cx="2743200" cy="1051560"/>
          </a:xfrm>
          <a:prstGeom prst="rect">
            <a:avLst/>
          </a:prstGeom>
          <a:solidFill>
            <a:srgbClr val="FFFFFF"/>
          </a:solidFill>
          <a:ln w="9525">
            <a:solidFill>
              <a:srgbClr val="E1E6E8"/>
            </a:solidFill>
            <a:prstDash val="solid"/>
          </a:ln>
        </p:spPr>
      </p:sp>
      <p:sp>
        <p:nvSpPr>
          <p:cNvPr id="27" name="Text 25"/>
          <p:cNvSpPr/>
          <p:nvPr/>
        </p:nvSpPr>
        <p:spPr>
          <a:xfrm>
            <a:off x="3154680" y="4892040"/>
            <a:ext cx="246888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Gmail SMTP</a:t>
            </a:r>
            <a:endParaRPr lang="en-US" sz="1200" dirty="0"/>
          </a:p>
        </p:txBody>
      </p:sp>
      <p:sp>
        <p:nvSpPr>
          <p:cNvPr id="28" name="Shape 26"/>
          <p:cNvSpPr/>
          <p:nvPr/>
        </p:nvSpPr>
        <p:spPr>
          <a:xfrm>
            <a:off x="5760720" y="4892040"/>
            <a:ext cx="5760720" cy="1051560"/>
          </a:xfrm>
          <a:prstGeom prst="rect">
            <a:avLst/>
          </a:prstGeom>
          <a:solidFill>
            <a:srgbClr val="FFFFFF"/>
          </a:solidFill>
          <a:ln w="9525">
            <a:solidFill>
              <a:srgbClr val="E1E6E8"/>
            </a:solidFill>
            <a:prstDash val="solid"/>
          </a:ln>
        </p:spPr>
      </p:sp>
      <p:sp>
        <p:nvSpPr>
          <p:cNvPr id="29" name="Text 27"/>
          <p:cNvSpPr/>
          <p:nvPr/>
        </p:nvSpPr>
        <p:spPr>
          <a:xfrm>
            <a:off x="5897880" y="4892040"/>
            <a:ext cx="5486400" cy="1051560"/>
          </a:xfrm>
          <a:prstGeom prst="rect">
            <a:avLst/>
          </a:prstGeom>
          <a:noFill/>
          <a:ln/>
        </p:spPr>
        <p:txBody>
          <a:bodyPr wrap="square" rtlCol="0" anchor="ctr"/>
          <a:lstStyle/>
          <a:p>
            <a:pPr indent="0" marL="0">
              <a:lnSpc>
                <a:spcPct val="110000"/>
              </a:lnSpc>
              <a:buNone/>
            </a:pPr>
            <a:r>
              <a:rPr lang="en-US" sz="1200" dirty="0">
                <a:solidFill>
                  <a:srgbClr val="2C2C2C"/>
                </a:solidFill>
                <a:latin typeface="Calibri" pitchFamily="34" charset="0"/>
                <a:ea typeface="Calibri" pitchFamily="34" charset="-122"/>
                <a:cs typeface="Calibri" pitchFamily="34" charset="-120"/>
              </a:rPr>
              <a:t>Recruiter approval email + candidate outcome email</a:t>
            </a:r>
            <a:endParaRPr lang="en-US" sz="1200" dirty="0"/>
          </a:p>
        </p:txBody>
      </p:sp>
      <p:sp>
        <p:nvSpPr>
          <p:cNvPr id="30" name="Text 28"/>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31" name="Text 29"/>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548640"/>
          </a:xfrm>
          <a:prstGeom prst="rect">
            <a:avLst/>
          </a:prstGeom>
          <a:noFill/>
          <a:ln/>
        </p:spPr>
        <p:txBody>
          <a:bodyPr wrap="square" rtlCol="0" anchor="ctr"/>
          <a:lstStyle/>
          <a:p>
            <a:pPr indent="0" marL="0">
              <a:buNone/>
            </a:pPr>
            <a:r>
              <a:rPr lang="en-US" sz="2800" b="1" dirty="0">
                <a:solidFill>
                  <a:srgbClr val="1F3B57"/>
                </a:solidFill>
                <a:latin typeface="Cambria" pitchFamily="34" charset="0"/>
                <a:ea typeface="Cambria" pitchFamily="34" charset="-122"/>
                <a:cs typeface="Cambria" pitchFamily="34" charset="-120"/>
              </a:rPr>
              <a:t>AI Integration — Structured, Validated, Never Final</a:t>
            </a:r>
            <a:endParaRPr lang="en-US" sz="2800" dirty="0"/>
          </a:p>
        </p:txBody>
      </p:sp>
      <p:sp>
        <p:nvSpPr>
          <p:cNvPr id="3" name="Text 1"/>
          <p:cNvSpPr/>
          <p:nvPr/>
        </p:nvSpPr>
        <p:spPr>
          <a:xfrm>
            <a:off x="640080" y="1143000"/>
            <a:ext cx="10789920" cy="50292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AI is used only where reasoning and judgment are genuinely needed — extracting skills and scoring fit. Everything before and after it is deterministic.</a:t>
            </a:r>
            <a:endParaRPr lang="en-US" sz="1350" dirty="0"/>
          </a:p>
        </p:txBody>
      </p:sp>
      <p:sp>
        <p:nvSpPr>
          <p:cNvPr id="4" name="Shape 2"/>
          <p:cNvSpPr/>
          <p:nvPr/>
        </p:nvSpPr>
        <p:spPr>
          <a:xfrm>
            <a:off x="640080" y="1965960"/>
            <a:ext cx="457200" cy="457200"/>
          </a:xfrm>
          <a:prstGeom prst="ellipse">
            <a:avLst/>
          </a:prstGeom>
          <a:solidFill>
            <a:srgbClr val="2FC5A2"/>
          </a:solidFill>
          <a:ln/>
        </p:spPr>
      </p:sp>
      <p:sp>
        <p:nvSpPr>
          <p:cNvPr id="5" name="Text 3"/>
          <p:cNvSpPr/>
          <p:nvPr/>
        </p:nvSpPr>
        <p:spPr>
          <a:xfrm>
            <a:off x="640080" y="196596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25880" y="1911096"/>
            <a:ext cx="493776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Gemini scores fit</a:t>
            </a:r>
            <a:endParaRPr lang="en-US" sz="1500" dirty="0"/>
          </a:p>
        </p:txBody>
      </p:sp>
      <p:sp>
        <p:nvSpPr>
          <p:cNvPr id="7" name="Text 5"/>
          <p:cNvSpPr/>
          <p:nvPr/>
        </p:nvSpPr>
        <p:spPr>
          <a:xfrm>
            <a:off x="1325880" y="2258568"/>
            <a:ext cx="5029200" cy="640080"/>
          </a:xfrm>
          <a:prstGeom prst="rect">
            <a:avLst/>
          </a:prstGeom>
          <a:noFill/>
          <a:ln/>
        </p:spPr>
        <p:txBody>
          <a:bodyPr wrap="square" rtlCol="0" anchor="ctr"/>
          <a:lstStyle/>
          <a:p>
            <a:pPr indent="0" marL="0">
              <a:lnSpc>
                <a:spcPct val="115000"/>
              </a:lnSpc>
              <a:buNone/>
            </a:pPr>
            <a:r>
              <a:rPr lang="en-US" sz="1200" dirty="0">
                <a:solidFill>
                  <a:srgbClr val="2C2C2C"/>
                </a:solidFill>
                <a:latin typeface="Calibri" pitchFamily="34" charset="0"/>
                <a:ea typeface="Calibri" pitchFamily="34" charset="-122"/>
                <a:cs typeface="Calibri" pitchFamily="34" charset="-120"/>
              </a:rPr>
              <a:t>Skills extraction + fit score + written reasoning, not just a number</a:t>
            </a:r>
            <a:endParaRPr lang="en-US" sz="1200" dirty="0"/>
          </a:p>
        </p:txBody>
      </p:sp>
      <p:sp>
        <p:nvSpPr>
          <p:cNvPr id="8" name="Shape 6"/>
          <p:cNvSpPr/>
          <p:nvPr/>
        </p:nvSpPr>
        <p:spPr>
          <a:xfrm>
            <a:off x="640080" y="3017520"/>
            <a:ext cx="457200" cy="457200"/>
          </a:xfrm>
          <a:prstGeom prst="ellipse">
            <a:avLst/>
          </a:prstGeom>
          <a:solidFill>
            <a:srgbClr val="2FC5A2"/>
          </a:solidFill>
          <a:ln/>
        </p:spPr>
      </p:sp>
      <p:sp>
        <p:nvSpPr>
          <p:cNvPr id="9" name="Text 7"/>
          <p:cNvSpPr/>
          <p:nvPr/>
        </p:nvSpPr>
        <p:spPr>
          <a:xfrm>
            <a:off x="640080" y="301752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325880" y="2962656"/>
            <a:ext cx="493776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Parse &amp; validate</a:t>
            </a:r>
            <a:endParaRPr lang="en-US" sz="1500" dirty="0"/>
          </a:p>
        </p:txBody>
      </p:sp>
      <p:sp>
        <p:nvSpPr>
          <p:cNvPr id="11" name="Text 9"/>
          <p:cNvSpPr/>
          <p:nvPr/>
        </p:nvSpPr>
        <p:spPr>
          <a:xfrm>
            <a:off x="1325880" y="3310128"/>
            <a:ext cx="5029200" cy="640080"/>
          </a:xfrm>
          <a:prstGeom prst="rect">
            <a:avLst/>
          </a:prstGeom>
          <a:noFill/>
          <a:ln/>
        </p:spPr>
        <p:txBody>
          <a:bodyPr wrap="square" rtlCol="0" anchor="ctr"/>
          <a:lstStyle/>
          <a:p>
            <a:pPr indent="0" marL="0">
              <a:lnSpc>
                <a:spcPct val="115000"/>
              </a:lnSpc>
              <a:buNone/>
            </a:pPr>
            <a:r>
              <a:rPr lang="en-US" sz="1200" dirty="0">
                <a:solidFill>
                  <a:srgbClr val="2C2C2C"/>
                </a:solidFill>
                <a:latin typeface="Calibri" pitchFamily="34" charset="0"/>
                <a:ea typeface="Calibri" pitchFamily="34" charset="-122"/>
                <a:cs typeface="Calibri" pitchFamily="34" charset="-120"/>
              </a:rPr>
              <a:t>Structured output is checked before anything downstream trusts it</a:t>
            </a:r>
            <a:endParaRPr lang="en-US" sz="1200" dirty="0"/>
          </a:p>
        </p:txBody>
      </p:sp>
      <p:sp>
        <p:nvSpPr>
          <p:cNvPr id="12" name="Shape 10"/>
          <p:cNvSpPr/>
          <p:nvPr/>
        </p:nvSpPr>
        <p:spPr>
          <a:xfrm>
            <a:off x="640080" y="4069080"/>
            <a:ext cx="457200" cy="457200"/>
          </a:xfrm>
          <a:prstGeom prst="ellipse">
            <a:avLst/>
          </a:prstGeom>
          <a:solidFill>
            <a:srgbClr val="2FC5A2"/>
          </a:solidFill>
          <a:ln/>
        </p:spPr>
      </p:sp>
      <p:sp>
        <p:nvSpPr>
          <p:cNvPr id="13" name="Text 11"/>
          <p:cNvSpPr/>
          <p:nvPr/>
        </p:nvSpPr>
        <p:spPr>
          <a:xfrm>
            <a:off x="640080" y="406908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25880" y="4014216"/>
            <a:ext cx="493776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Rule engine cross-checks</a:t>
            </a:r>
            <a:endParaRPr lang="en-US" sz="1500" dirty="0"/>
          </a:p>
        </p:txBody>
      </p:sp>
      <p:sp>
        <p:nvSpPr>
          <p:cNvPr id="15" name="Text 13"/>
          <p:cNvSpPr/>
          <p:nvPr/>
        </p:nvSpPr>
        <p:spPr>
          <a:xfrm>
            <a:off x="1325880" y="4361688"/>
            <a:ext cx="5029200" cy="640080"/>
          </a:xfrm>
          <a:prstGeom prst="rect">
            <a:avLst/>
          </a:prstGeom>
          <a:noFill/>
          <a:ln/>
        </p:spPr>
        <p:txBody>
          <a:bodyPr wrap="square" rtlCol="0" anchor="ctr"/>
          <a:lstStyle/>
          <a:p>
            <a:pPr indent="0" marL="0">
              <a:lnSpc>
                <a:spcPct val="115000"/>
              </a:lnSpc>
              <a:buNone/>
            </a:pPr>
            <a:r>
              <a:rPr lang="en-US" sz="1200" dirty="0">
                <a:solidFill>
                  <a:srgbClr val="2C2C2C"/>
                </a:solidFill>
                <a:latin typeface="Calibri" pitchFamily="34" charset="0"/>
                <a:ea typeface="Calibri" pitchFamily="34" charset="-122"/>
                <a:cs typeface="Calibri" pitchFamily="34" charset="-120"/>
              </a:rPr>
              <a:t>A separate, deterministic rule score compares against the AI's call</a:t>
            </a:r>
            <a:endParaRPr lang="en-US" sz="1200" dirty="0"/>
          </a:p>
        </p:txBody>
      </p:sp>
      <p:sp>
        <p:nvSpPr>
          <p:cNvPr id="16" name="Shape 14"/>
          <p:cNvSpPr/>
          <p:nvPr/>
        </p:nvSpPr>
        <p:spPr>
          <a:xfrm>
            <a:off x="640080" y="5120640"/>
            <a:ext cx="457200" cy="457200"/>
          </a:xfrm>
          <a:prstGeom prst="ellipse">
            <a:avLst/>
          </a:prstGeom>
          <a:solidFill>
            <a:srgbClr val="2FC5A2"/>
          </a:solidFill>
          <a:ln/>
        </p:spPr>
      </p:sp>
      <p:sp>
        <p:nvSpPr>
          <p:cNvPr id="17" name="Text 15"/>
          <p:cNvSpPr/>
          <p:nvPr/>
        </p:nvSpPr>
        <p:spPr>
          <a:xfrm>
            <a:off x="640080" y="512064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25880" y="5065776"/>
            <a:ext cx="4937760" cy="365760"/>
          </a:xfrm>
          <a:prstGeom prst="rect">
            <a:avLst/>
          </a:prstGeom>
          <a:noFill/>
          <a:ln/>
        </p:spPr>
        <p:txBody>
          <a:bodyPr wrap="square" rtlCol="0" anchor="ctr"/>
          <a:lstStyle/>
          <a:p>
            <a:pPr indent="0" marL="0">
              <a:buNone/>
            </a:pPr>
            <a:r>
              <a:rPr lang="en-US" sz="1500" b="1" dirty="0">
                <a:solidFill>
                  <a:srgbClr val="1F3B57"/>
                </a:solidFill>
                <a:latin typeface="Calibri" pitchFamily="34" charset="0"/>
                <a:ea typeface="Calibri" pitchFamily="34" charset="-122"/>
                <a:cs typeface="Calibri" pitchFamily="34" charset="-120"/>
              </a:rPr>
              <a:t>Disagreement → Manual Review</a:t>
            </a:r>
            <a:endParaRPr lang="en-US" sz="1500" dirty="0"/>
          </a:p>
        </p:txBody>
      </p:sp>
      <p:sp>
        <p:nvSpPr>
          <p:cNvPr id="19" name="Text 17"/>
          <p:cNvSpPr/>
          <p:nvPr/>
        </p:nvSpPr>
        <p:spPr>
          <a:xfrm>
            <a:off x="1325880" y="5413248"/>
            <a:ext cx="5029200" cy="640080"/>
          </a:xfrm>
          <a:prstGeom prst="rect">
            <a:avLst/>
          </a:prstGeom>
          <a:noFill/>
          <a:ln/>
        </p:spPr>
        <p:txBody>
          <a:bodyPr wrap="square" rtlCol="0" anchor="ctr"/>
          <a:lstStyle/>
          <a:p>
            <a:pPr indent="0" marL="0">
              <a:lnSpc>
                <a:spcPct val="115000"/>
              </a:lnSpc>
              <a:buNone/>
            </a:pPr>
            <a:r>
              <a:rPr lang="en-US" sz="1200" dirty="0">
                <a:solidFill>
                  <a:srgbClr val="2C2C2C"/>
                </a:solidFill>
                <a:latin typeface="Calibri" pitchFamily="34" charset="0"/>
                <a:ea typeface="Calibri" pitchFamily="34" charset="-122"/>
                <a:cs typeface="Calibri" pitchFamily="34" charset="-120"/>
              </a:rPr>
              <a:t>AI and rule engine disagree? Escalated to a human, never silently resolved</a:t>
            </a:r>
            <a:endParaRPr lang="en-US" sz="1200" dirty="0"/>
          </a:p>
        </p:txBody>
      </p:sp>
      <p:sp>
        <p:nvSpPr>
          <p:cNvPr id="20" name="Shape 18"/>
          <p:cNvSpPr/>
          <p:nvPr/>
        </p:nvSpPr>
        <p:spPr>
          <a:xfrm>
            <a:off x="6903720" y="1965960"/>
            <a:ext cx="4663440" cy="4160520"/>
          </a:xfrm>
          <a:prstGeom prst="roundRect">
            <a:avLst>
              <a:gd name="adj" fmla="val 2637"/>
            </a:avLst>
          </a:prstGeom>
          <a:solidFill>
            <a:srgbClr val="EEF3F4"/>
          </a:solidFill>
          <a:ln/>
        </p:spPr>
      </p:sp>
      <p:sp>
        <p:nvSpPr>
          <p:cNvPr id="21" name="Text 19"/>
          <p:cNvSpPr/>
          <p:nvPr/>
        </p:nvSpPr>
        <p:spPr>
          <a:xfrm>
            <a:off x="7178040" y="2194560"/>
            <a:ext cx="4114800" cy="365760"/>
          </a:xfrm>
          <a:prstGeom prst="rect">
            <a:avLst/>
          </a:prstGeom>
          <a:noFill/>
          <a:ln/>
        </p:spPr>
        <p:txBody>
          <a:bodyPr wrap="square"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Sample AI reasoning (real run)</a:t>
            </a:r>
            <a:endParaRPr lang="en-US" sz="1300" dirty="0"/>
          </a:p>
        </p:txBody>
      </p:sp>
      <p:sp>
        <p:nvSpPr>
          <p:cNvPr id="22" name="Text 20"/>
          <p:cNvSpPr/>
          <p:nvPr/>
        </p:nvSpPr>
        <p:spPr>
          <a:xfrm>
            <a:off x="7178040" y="2651760"/>
            <a:ext cx="4114800" cy="1463040"/>
          </a:xfrm>
          <a:prstGeom prst="rect">
            <a:avLst/>
          </a:prstGeom>
          <a:noFill/>
          <a:ln/>
        </p:spPr>
        <p:txBody>
          <a:bodyPr wrap="square" rtlCol="0" anchor="ctr"/>
          <a:lstStyle/>
          <a:p>
            <a:pPr indent="0" marL="0">
              <a:lnSpc>
                <a:spcPct val="130000"/>
              </a:lnSpc>
              <a:buNone/>
            </a:pPr>
            <a:r>
              <a:rPr lang="en-US" sz="1250" i="1" dirty="0">
                <a:solidFill>
                  <a:srgbClr val="2C2C2C"/>
                </a:solidFill>
                <a:latin typeface="Calibri" pitchFamily="34" charset="0"/>
                <a:ea typeface="Calibri" pitchFamily="34" charset="-122"/>
                <a:cs typeface="Calibri" pitchFamily="34" charset="-120"/>
              </a:rPr>
              <a:t>“The candidate failed to list any of the required core skills (JavaScript, SQL, REST APIs) in their resume summary. The lack of technical detail makes it impossible to verify their fit for a senior engineering role.”</a:t>
            </a:r>
            <a:endParaRPr lang="en-US" sz="1250" dirty="0"/>
          </a:p>
        </p:txBody>
      </p:sp>
      <p:sp>
        <p:nvSpPr>
          <p:cNvPr id="23" name="Text 21"/>
          <p:cNvSpPr/>
          <p:nvPr/>
        </p:nvSpPr>
        <p:spPr>
          <a:xfrm>
            <a:off x="7178040" y="4206240"/>
            <a:ext cx="4114800" cy="320040"/>
          </a:xfrm>
          <a:prstGeom prst="rect">
            <a:avLst/>
          </a:prstGeom>
          <a:noFill/>
          <a:ln/>
        </p:spPr>
        <p:txBody>
          <a:bodyPr wrap="square" rtlCol="0" anchor="ctr"/>
          <a:lstStyle/>
          <a:p>
            <a:pPr indent="0" marL="0">
              <a:buNone/>
            </a:pPr>
            <a:r>
              <a:rPr lang="en-US" sz="1200" b="1" dirty="0">
                <a:solidFill>
                  <a:srgbClr val="C0524A"/>
                </a:solidFill>
                <a:latin typeface="Calibri" pitchFamily="34" charset="0"/>
                <a:ea typeface="Calibri" pitchFamily="34" charset="-122"/>
                <a:cs typeface="Calibri" pitchFamily="34" charset="-120"/>
              </a:rPr>
              <a:t>AI recommendation: Reject   |   Score: 10</a:t>
            </a:r>
            <a:endParaRPr lang="en-US" sz="1200" dirty="0"/>
          </a:p>
        </p:txBody>
      </p:sp>
      <p:sp>
        <p:nvSpPr>
          <p:cNvPr id="24" name="Text 22"/>
          <p:cNvSpPr/>
          <p:nvPr/>
        </p:nvSpPr>
        <p:spPr>
          <a:xfrm>
            <a:off x="7178040" y="4572000"/>
            <a:ext cx="4114800" cy="320040"/>
          </a:xfrm>
          <a:prstGeom prst="rect">
            <a:avLst/>
          </a:prstGeom>
          <a:noFill/>
          <a:ln/>
        </p:spPr>
        <p:txBody>
          <a:bodyPr wrap="square" rtlCol="0" anchor="ctr"/>
          <a:lstStyle/>
          <a:p>
            <a:pPr indent="0" marL="0">
              <a:buNone/>
            </a:pPr>
            <a:r>
              <a:rPr lang="en-US" sz="1200" b="1" dirty="0">
                <a:solidFill>
                  <a:srgbClr val="2FC5A2"/>
                </a:solidFill>
                <a:latin typeface="Calibri" pitchFamily="34" charset="0"/>
                <a:ea typeface="Calibri" pitchFamily="34" charset="-122"/>
                <a:cs typeface="Calibri" pitchFamily="34" charset="-120"/>
              </a:rPr>
              <a:t>Human decision: Shortlist (override)</a:t>
            </a:r>
            <a:endParaRPr lang="en-US" sz="1200" dirty="0"/>
          </a:p>
        </p:txBody>
      </p:sp>
      <p:sp>
        <p:nvSpPr>
          <p:cNvPr id="25" name="Text 23"/>
          <p:cNvSpPr/>
          <p:nvPr/>
        </p:nvSpPr>
        <p:spPr>
          <a:xfrm>
            <a:off x="7178040" y="5074920"/>
            <a:ext cx="4114800" cy="914400"/>
          </a:xfrm>
          <a:prstGeom prst="rect">
            <a:avLst/>
          </a:prstGeom>
          <a:noFill/>
          <a:ln/>
        </p:spPr>
        <p:txBody>
          <a:bodyPr wrap="square"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Recorded in Supabase: final_status, decided_by, decision_notes, decided_at — the human's actual call, not the AI's suggestion.</a:t>
            </a:r>
            <a:endParaRPr lang="en-US" sz="1100" dirty="0"/>
          </a:p>
        </p:txBody>
      </p:sp>
      <p:sp>
        <p:nvSpPr>
          <p:cNvPr id="26" name="Text 24"/>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27" name="Text 25"/>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B57"/>
        </a:solidFill>
      </p:bgPr>
    </p:bg>
    <p:spTree>
      <p:nvGrpSpPr>
        <p:cNvPr id="1" name=""/>
        <p:cNvGrpSpPr/>
        <p:nvPr/>
      </p:nvGrpSpPr>
      <p:grpSpPr>
        <a:xfrm>
          <a:off x="0" y="0"/>
          <a:ext cx="0" cy="0"/>
          <a:chOff x="0" y="0"/>
          <a:chExt cx="0" cy="0"/>
        </a:xfrm>
      </p:grpSpPr>
      <p:sp>
        <p:nvSpPr>
          <p:cNvPr id="2" name="Text 0"/>
          <p:cNvSpPr/>
          <p:nvPr/>
        </p:nvSpPr>
        <p:spPr>
          <a:xfrm>
            <a:off x="640080" y="457200"/>
            <a:ext cx="54864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Live Demo</a:t>
            </a:r>
            <a:endParaRPr lang="en-US" sz="3200" dirty="0"/>
          </a:p>
        </p:txBody>
      </p:sp>
      <p:sp>
        <p:nvSpPr>
          <p:cNvPr id="3" name="Text 1"/>
          <p:cNvSpPr/>
          <p:nvPr/>
        </p:nvSpPr>
        <p:spPr>
          <a:xfrm>
            <a:off x="640080" y="1051560"/>
            <a:ext cx="5486400" cy="457200"/>
          </a:xfrm>
          <a:prstGeom prst="rect">
            <a:avLst/>
          </a:prstGeom>
          <a:noFill/>
          <a:ln/>
        </p:spPr>
        <p:txBody>
          <a:bodyPr wrap="square" rtlCol="0" anchor="ctr"/>
          <a:lstStyle/>
          <a:p>
            <a:pPr indent="0" marL="0">
              <a:buNone/>
            </a:pPr>
            <a:r>
              <a:rPr lang="en-US" sz="1400" i="1" dirty="0">
                <a:solidFill>
                  <a:srgbClr val="C9D6E0"/>
                </a:solidFill>
                <a:latin typeface="Calibri" pitchFamily="34" charset="0"/>
                <a:ea typeface="Calibri" pitchFamily="34" charset="-122"/>
                <a:cs typeface="Calibri" pitchFamily="34" charset="-120"/>
              </a:rPr>
              <a:t>A single, real execution — every node green, start to finish.</a:t>
            </a:r>
            <a:endParaRPr lang="en-US" sz="1400" dirty="0"/>
          </a:p>
        </p:txBody>
      </p:sp>
      <p:sp>
        <p:nvSpPr>
          <p:cNvPr id="4" name="Shape 2"/>
          <p:cNvSpPr/>
          <p:nvPr/>
        </p:nvSpPr>
        <p:spPr>
          <a:xfrm>
            <a:off x="640080" y="1828800"/>
            <a:ext cx="310896" cy="310896"/>
          </a:xfrm>
          <a:prstGeom prst="ellipse">
            <a:avLst/>
          </a:prstGeom>
          <a:solidFill>
            <a:srgbClr val="2FC5A2"/>
          </a:solidFill>
          <a:ln/>
        </p:spPr>
      </p:sp>
      <p:sp>
        <p:nvSpPr>
          <p:cNvPr id="5" name="Text 3"/>
          <p:cNvSpPr/>
          <p:nvPr/>
        </p:nvSpPr>
        <p:spPr>
          <a:xfrm>
            <a:off x="640080" y="1828800"/>
            <a:ext cx="310896" cy="310896"/>
          </a:xfrm>
          <a:prstGeom prst="rect">
            <a:avLst/>
          </a:prstGeom>
          <a:noFill/>
          <a:ln/>
        </p:spPr>
        <p:txBody>
          <a:bodyPr wrap="square" rtlCol="0" anchor="ctr"/>
          <a:lstStyle/>
          <a:p>
            <a:pPr algn="ctr" indent="0" marL="0">
              <a:buNone/>
            </a:pPr>
            <a:r>
              <a:rPr lang="en-US" sz="1400" b="1" dirty="0">
                <a:solidFill>
                  <a:srgbClr val="1F3B57"/>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143000" y="1746504"/>
            <a:ext cx="448056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Form submitted → validated → stored</a:t>
            </a:r>
            <a:endParaRPr lang="en-US" sz="1250" dirty="0"/>
          </a:p>
        </p:txBody>
      </p:sp>
      <p:sp>
        <p:nvSpPr>
          <p:cNvPr id="7" name="Shape 5"/>
          <p:cNvSpPr/>
          <p:nvPr/>
        </p:nvSpPr>
        <p:spPr>
          <a:xfrm>
            <a:off x="640080" y="2487168"/>
            <a:ext cx="310896" cy="310896"/>
          </a:xfrm>
          <a:prstGeom prst="ellipse">
            <a:avLst/>
          </a:prstGeom>
          <a:solidFill>
            <a:srgbClr val="2FC5A2"/>
          </a:solidFill>
          <a:ln/>
        </p:spPr>
      </p:sp>
      <p:sp>
        <p:nvSpPr>
          <p:cNvPr id="8" name="Text 6"/>
          <p:cNvSpPr/>
          <p:nvPr/>
        </p:nvSpPr>
        <p:spPr>
          <a:xfrm>
            <a:off x="640080" y="2487168"/>
            <a:ext cx="310896" cy="310896"/>
          </a:xfrm>
          <a:prstGeom prst="rect">
            <a:avLst/>
          </a:prstGeom>
          <a:noFill/>
          <a:ln/>
        </p:spPr>
        <p:txBody>
          <a:bodyPr wrap="square" rtlCol="0" anchor="ctr"/>
          <a:lstStyle/>
          <a:p>
            <a:pPr algn="ctr" indent="0" marL="0">
              <a:buNone/>
            </a:pPr>
            <a:r>
              <a:rPr lang="en-US" sz="1400" b="1" dirty="0">
                <a:solidFill>
                  <a:srgbClr val="1F3B57"/>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143000" y="2404872"/>
            <a:ext cx="448056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Gemini scores skills &amp; fit, with reasoning</a:t>
            </a:r>
            <a:endParaRPr lang="en-US" sz="1250" dirty="0"/>
          </a:p>
        </p:txBody>
      </p:sp>
      <p:sp>
        <p:nvSpPr>
          <p:cNvPr id="10" name="Shape 8"/>
          <p:cNvSpPr/>
          <p:nvPr/>
        </p:nvSpPr>
        <p:spPr>
          <a:xfrm>
            <a:off x="640080" y="3145536"/>
            <a:ext cx="310896" cy="310896"/>
          </a:xfrm>
          <a:prstGeom prst="ellipse">
            <a:avLst/>
          </a:prstGeom>
          <a:solidFill>
            <a:srgbClr val="2FC5A2"/>
          </a:solidFill>
          <a:ln/>
        </p:spPr>
      </p:sp>
      <p:sp>
        <p:nvSpPr>
          <p:cNvPr id="11" name="Text 9"/>
          <p:cNvSpPr/>
          <p:nvPr/>
        </p:nvSpPr>
        <p:spPr>
          <a:xfrm>
            <a:off x="640080" y="3145536"/>
            <a:ext cx="310896" cy="310896"/>
          </a:xfrm>
          <a:prstGeom prst="rect">
            <a:avLst/>
          </a:prstGeom>
          <a:noFill/>
          <a:ln/>
        </p:spPr>
        <p:txBody>
          <a:bodyPr wrap="square" rtlCol="0" anchor="ctr"/>
          <a:lstStyle/>
          <a:p>
            <a:pPr algn="ctr" indent="0" marL="0">
              <a:buNone/>
            </a:pPr>
            <a:r>
              <a:rPr lang="en-US" sz="1400" b="1" dirty="0">
                <a:solidFill>
                  <a:srgbClr val="1F3B57"/>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43000" y="3063240"/>
            <a:ext cx="448056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Rule engine cross-checks the AI's call</a:t>
            </a:r>
            <a:endParaRPr lang="en-US" sz="1250" dirty="0"/>
          </a:p>
        </p:txBody>
      </p:sp>
      <p:sp>
        <p:nvSpPr>
          <p:cNvPr id="13" name="Shape 11"/>
          <p:cNvSpPr/>
          <p:nvPr/>
        </p:nvSpPr>
        <p:spPr>
          <a:xfrm>
            <a:off x="640080" y="3803904"/>
            <a:ext cx="310896" cy="310896"/>
          </a:xfrm>
          <a:prstGeom prst="ellipse">
            <a:avLst/>
          </a:prstGeom>
          <a:solidFill>
            <a:srgbClr val="2FC5A2"/>
          </a:solidFill>
          <a:ln/>
        </p:spPr>
      </p:sp>
      <p:sp>
        <p:nvSpPr>
          <p:cNvPr id="14" name="Text 12"/>
          <p:cNvSpPr/>
          <p:nvPr/>
        </p:nvSpPr>
        <p:spPr>
          <a:xfrm>
            <a:off x="640080" y="3803904"/>
            <a:ext cx="310896" cy="310896"/>
          </a:xfrm>
          <a:prstGeom prst="rect">
            <a:avLst/>
          </a:prstGeom>
          <a:noFill/>
          <a:ln/>
        </p:spPr>
        <p:txBody>
          <a:bodyPr wrap="square" rtlCol="0" anchor="ctr"/>
          <a:lstStyle/>
          <a:p>
            <a:pPr algn="ctr" indent="0" marL="0">
              <a:buNone/>
            </a:pPr>
            <a:r>
              <a:rPr lang="en-US" sz="1400" b="1" dirty="0">
                <a:solidFill>
                  <a:srgbClr val="1F3B57"/>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143000" y="3721608"/>
            <a:ext cx="448056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Recruiter notified; workflow pauses for review</a:t>
            </a:r>
            <a:endParaRPr lang="en-US" sz="1250" dirty="0"/>
          </a:p>
        </p:txBody>
      </p:sp>
      <p:sp>
        <p:nvSpPr>
          <p:cNvPr id="16" name="Shape 14"/>
          <p:cNvSpPr/>
          <p:nvPr/>
        </p:nvSpPr>
        <p:spPr>
          <a:xfrm>
            <a:off x="640080" y="4462272"/>
            <a:ext cx="310896" cy="310896"/>
          </a:xfrm>
          <a:prstGeom prst="ellipse">
            <a:avLst/>
          </a:prstGeom>
          <a:solidFill>
            <a:srgbClr val="2FC5A2"/>
          </a:solidFill>
          <a:ln/>
        </p:spPr>
      </p:sp>
      <p:sp>
        <p:nvSpPr>
          <p:cNvPr id="17" name="Text 15"/>
          <p:cNvSpPr/>
          <p:nvPr/>
        </p:nvSpPr>
        <p:spPr>
          <a:xfrm>
            <a:off x="640080" y="4462272"/>
            <a:ext cx="310896" cy="310896"/>
          </a:xfrm>
          <a:prstGeom prst="rect">
            <a:avLst/>
          </a:prstGeom>
          <a:noFill/>
          <a:ln/>
        </p:spPr>
        <p:txBody>
          <a:bodyPr wrap="square" rtlCol="0" anchor="ctr"/>
          <a:lstStyle/>
          <a:p>
            <a:pPr algn="ctr" indent="0" marL="0">
              <a:buNone/>
            </a:pPr>
            <a:r>
              <a:rPr lang="en-US" sz="1400" b="1" dirty="0">
                <a:solidFill>
                  <a:srgbClr val="1F3B57"/>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143000" y="4379976"/>
            <a:ext cx="448056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Human decision recorded and routed</a:t>
            </a:r>
            <a:endParaRPr lang="en-US" sz="1250" dirty="0"/>
          </a:p>
        </p:txBody>
      </p:sp>
      <p:sp>
        <p:nvSpPr>
          <p:cNvPr id="19" name="Shape 17"/>
          <p:cNvSpPr/>
          <p:nvPr/>
        </p:nvSpPr>
        <p:spPr>
          <a:xfrm>
            <a:off x="640080" y="5120640"/>
            <a:ext cx="310896" cy="310896"/>
          </a:xfrm>
          <a:prstGeom prst="ellipse">
            <a:avLst/>
          </a:prstGeom>
          <a:solidFill>
            <a:srgbClr val="2FC5A2"/>
          </a:solidFill>
          <a:ln/>
        </p:spPr>
      </p:sp>
      <p:sp>
        <p:nvSpPr>
          <p:cNvPr id="20" name="Text 18"/>
          <p:cNvSpPr/>
          <p:nvPr/>
        </p:nvSpPr>
        <p:spPr>
          <a:xfrm>
            <a:off x="640080" y="5120640"/>
            <a:ext cx="310896" cy="310896"/>
          </a:xfrm>
          <a:prstGeom prst="rect">
            <a:avLst/>
          </a:prstGeom>
          <a:noFill/>
          <a:ln/>
        </p:spPr>
        <p:txBody>
          <a:bodyPr wrap="square" rtlCol="0" anchor="ctr"/>
          <a:lstStyle/>
          <a:p>
            <a:pPr algn="ctr" indent="0" marL="0">
              <a:buNone/>
            </a:pPr>
            <a:r>
              <a:rPr lang="en-US" sz="1400" b="1" dirty="0">
                <a:solidFill>
                  <a:srgbClr val="1F3B57"/>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143000" y="5038344"/>
            <a:ext cx="448056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Candidate emailed; database updated</a:t>
            </a:r>
            <a:endParaRPr lang="en-US" sz="1250" dirty="0"/>
          </a:p>
        </p:txBody>
      </p:sp>
      <p:sp>
        <p:nvSpPr>
          <p:cNvPr id="22" name="Shape 20"/>
          <p:cNvSpPr/>
          <p:nvPr/>
        </p:nvSpPr>
        <p:spPr>
          <a:xfrm>
            <a:off x="5806440" y="1051560"/>
            <a:ext cx="5760720" cy="5120640"/>
          </a:xfrm>
          <a:prstGeom prst="roundRect">
            <a:avLst>
              <a:gd name="adj" fmla="val 1429"/>
            </a:avLst>
          </a:prstGeom>
          <a:solidFill>
            <a:srgbClr val="16293D"/>
          </a:solidFill>
          <a:ln w="19050">
            <a:solidFill>
              <a:srgbClr val="1F7A8C"/>
            </a:solidFill>
            <a:prstDash val="solid"/>
          </a:ln>
        </p:spPr>
      </p:sp>
      <p:pic>
        <p:nvPicPr>
          <p:cNvPr id="23" name="Image 0" descr="/home/claude/deck_assets/full_workflow_success.png">    </p:cNvPr>
          <p:cNvPicPr>
            <a:picLocks noChangeAspect="1"/>
          </p:cNvPicPr>
          <p:nvPr/>
        </p:nvPicPr>
        <p:blipFill>
          <a:blip r:embed="rId1"/>
          <a:stretch>
            <a:fillRect/>
          </a:stretch>
        </p:blipFill>
        <p:spPr>
          <a:xfrm>
            <a:off x="5989320" y="1234440"/>
            <a:ext cx="5394960" cy="3389081"/>
          </a:xfrm>
          <a:prstGeom prst="rect">
            <a:avLst/>
          </a:prstGeom>
        </p:spPr>
      </p:pic>
      <p:sp>
        <p:nvSpPr>
          <p:cNvPr id="24" name="Text 21"/>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9FB2C4"/>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25" name="Text 22"/>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FB2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Human in the Loop, By Design</a:t>
            </a:r>
            <a:endParaRPr lang="en-US" sz="3200" dirty="0"/>
          </a:p>
        </p:txBody>
      </p:sp>
      <p:sp>
        <p:nvSpPr>
          <p:cNvPr id="3" name="Text 1"/>
          <p:cNvSpPr/>
          <p:nvPr/>
        </p:nvSpPr>
        <p:spPr>
          <a:xfrm>
            <a:off x="640080" y="1143000"/>
            <a:ext cx="10515600" cy="45720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No candidate is finally shortlisted or rejected without a recruiter's explicit decision — even when the AI is confident.</a:t>
            </a:r>
            <a:endParaRPr lang="en-US" sz="1400" dirty="0"/>
          </a:p>
        </p:txBody>
      </p:sp>
      <p:pic>
        <p:nvPicPr>
          <p:cNvPr id="4" name="Image 0" descr="/home/claude/deck_assets/human_review_form.png">    </p:cNvPr>
          <p:cNvPicPr>
            <a:picLocks noChangeAspect="1"/>
          </p:cNvPicPr>
          <p:nvPr/>
        </p:nvPicPr>
        <p:blipFill>
          <a:blip r:embed="rId1"/>
          <a:stretch>
            <a:fillRect/>
          </a:stretch>
        </p:blipFill>
        <p:spPr>
          <a:xfrm>
            <a:off x="640080" y="1828800"/>
            <a:ext cx="6035040" cy="3022591"/>
          </a:xfrm>
          <a:prstGeom prst="rect">
            <a:avLst/>
          </a:prstGeom>
        </p:spPr>
      </p:pic>
      <p:sp>
        <p:nvSpPr>
          <p:cNvPr id="5" name="Shape 2"/>
          <p:cNvSpPr/>
          <p:nvPr/>
        </p:nvSpPr>
        <p:spPr>
          <a:xfrm>
            <a:off x="7086600" y="2377440"/>
            <a:ext cx="292608" cy="292608"/>
          </a:xfrm>
          <a:prstGeom prst="ellipse">
            <a:avLst/>
          </a:prstGeom>
          <a:solidFill>
            <a:srgbClr val="1F7A8C"/>
          </a:solidFill>
          <a:ln/>
        </p:spPr>
      </p:sp>
      <p:sp>
        <p:nvSpPr>
          <p:cNvPr id="6" name="Text 3"/>
          <p:cNvSpPr/>
          <p:nvPr/>
        </p:nvSpPr>
        <p:spPr>
          <a:xfrm>
            <a:off x="7086600" y="2377440"/>
            <a:ext cx="292608" cy="29260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4"/>
          <p:cNvSpPr/>
          <p:nvPr/>
        </p:nvSpPr>
        <p:spPr>
          <a:xfrm>
            <a:off x="7543800" y="2240280"/>
            <a:ext cx="402336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Recruiter sees the AI score, the rule-based score, and the AI's written reasoning together</a:t>
            </a:r>
            <a:endParaRPr lang="en-US" sz="1200" dirty="0"/>
          </a:p>
        </p:txBody>
      </p:sp>
      <p:sp>
        <p:nvSpPr>
          <p:cNvPr id="8" name="Shape 5"/>
          <p:cNvSpPr/>
          <p:nvPr/>
        </p:nvSpPr>
        <p:spPr>
          <a:xfrm>
            <a:off x="7086600" y="3337560"/>
            <a:ext cx="292608" cy="292608"/>
          </a:xfrm>
          <a:prstGeom prst="ellipse">
            <a:avLst/>
          </a:prstGeom>
          <a:solidFill>
            <a:srgbClr val="1F7A8C"/>
          </a:solidFill>
          <a:ln/>
        </p:spPr>
      </p:sp>
      <p:sp>
        <p:nvSpPr>
          <p:cNvPr id="9" name="Text 6"/>
          <p:cNvSpPr/>
          <p:nvPr/>
        </p:nvSpPr>
        <p:spPr>
          <a:xfrm>
            <a:off x="7086600" y="3337560"/>
            <a:ext cx="292608" cy="29260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7"/>
          <p:cNvSpPr/>
          <p:nvPr/>
        </p:nvSpPr>
        <p:spPr>
          <a:xfrm>
            <a:off x="7543800" y="3200400"/>
            <a:ext cx="402336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A single dropdown records the decision: Shortlist, Reject, or Hold for Manual Review</a:t>
            </a:r>
            <a:endParaRPr lang="en-US" sz="1200" dirty="0"/>
          </a:p>
        </p:txBody>
      </p:sp>
      <p:sp>
        <p:nvSpPr>
          <p:cNvPr id="11" name="Shape 8"/>
          <p:cNvSpPr/>
          <p:nvPr/>
        </p:nvSpPr>
        <p:spPr>
          <a:xfrm>
            <a:off x="7086600" y="4297680"/>
            <a:ext cx="292608" cy="292608"/>
          </a:xfrm>
          <a:prstGeom prst="ellipse">
            <a:avLst/>
          </a:prstGeom>
          <a:solidFill>
            <a:srgbClr val="1F7A8C"/>
          </a:solidFill>
          <a:ln/>
        </p:spPr>
      </p:sp>
      <p:sp>
        <p:nvSpPr>
          <p:cNvPr id="12" name="Text 9"/>
          <p:cNvSpPr/>
          <p:nvPr/>
        </p:nvSpPr>
        <p:spPr>
          <a:xfrm>
            <a:off x="7086600" y="4297680"/>
            <a:ext cx="292608" cy="29260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0"/>
          <p:cNvSpPr/>
          <p:nvPr/>
        </p:nvSpPr>
        <p:spPr>
          <a:xfrm>
            <a:off x="7543800" y="4160520"/>
            <a:ext cx="402336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Reviewer name and optional notes are captured alongside the decision</a:t>
            </a:r>
            <a:endParaRPr lang="en-US" sz="1200" dirty="0"/>
          </a:p>
        </p:txBody>
      </p:sp>
      <p:sp>
        <p:nvSpPr>
          <p:cNvPr id="14" name="Shape 11"/>
          <p:cNvSpPr/>
          <p:nvPr/>
        </p:nvSpPr>
        <p:spPr>
          <a:xfrm>
            <a:off x="7086600" y="5257800"/>
            <a:ext cx="292608" cy="292608"/>
          </a:xfrm>
          <a:prstGeom prst="ellipse">
            <a:avLst/>
          </a:prstGeom>
          <a:solidFill>
            <a:srgbClr val="1F7A8C"/>
          </a:solidFill>
          <a:ln/>
        </p:spPr>
      </p:sp>
      <p:sp>
        <p:nvSpPr>
          <p:cNvPr id="15" name="Text 12"/>
          <p:cNvSpPr/>
          <p:nvPr/>
        </p:nvSpPr>
        <p:spPr>
          <a:xfrm>
            <a:off x="7086600" y="5257800"/>
            <a:ext cx="292608" cy="29260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3"/>
          <p:cNvSpPr/>
          <p:nvPr/>
        </p:nvSpPr>
        <p:spPr>
          <a:xfrm>
            <a:off x="7543800" y="5120640"/>
            <a:ext cx="402336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The workflow pauses on a Wait node until this form is submitted — nothing proceeds without it</a:t>
            </a:r>
            <a:endParaRPr lang="en-US" sz="1200" dirty="0"/>
          </a:p>
        </p:txBody>
      </p:sp>
      <p:sp>
        <p:nvSpPr>
          <p:cNvPr id="17" name="Text 14"/>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18" name="Text 15"/>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Error Handling</a:t>
            </a:r>
            <a:endParaRPr lang="en-US" sz="3200" dirty="0"/>
          </a:p>
        </p:txBody>
      </p:sp>
      <p:sp>
        <p:nvSpPr>
          <p:cNvPr id="3" name="Text 1"/>
          <p:cNvSpPr/>
          <p:nvPr/>
        </p:nvSpPr>
        <p:spPr>
          <a:xfrm>
            <a:off x="640080" y="1143000"/>
            <a:ext cx="10515600" cy="45720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Found through a structured 20-case test pass across six categories — and fixed, not just documented.</a:t>
            </a:r>
            <a:endParaRPr lang="en-US" sz="1400" dirty="0"/>
          </a:p>
        </p:txBody>
      </p:sp>
      <p:sp>
        <p:nvSpPr>
          <p:cNvPr id="4" name="Shape 2"/>
          <p:cNvSpPr/>
          <p:nvPr/>
        </p:nvSpPr>
        <p:spPr>
          <a:xfrm>
            <a:off x="640080" y="1920240"/>
            <a:ext cx="5257800" cy="1783080"/>
          </a:xfrm>
          <a:prstGeom prst="roundRect">
            <a:avLst>
              <a:gd name="adj" fmla="val 5128"/>
            </a:avLst>
          </a:prstGeom>
          <a:solidFill>
            <a:srgbClr val="EEF3F4"/>
          </a:solidFill>
          <a:ln/>
        </p:spPr>
      </p:sp>
      <p:sp>
        <p:nvSpPr>
          <p:cNvPr id="5" name="Shape 3"/>
          <p:cNvSpPr/>
          <p:nvPr/>
        </p:nvSpPr>
        <p:spPr>
          <a:xfrm>
            <a:off x="914400" y="2194560"/>
            <a:ext cx="457200" cy="457200"/>
          </a:xfrm>
          <a:prstGeom prst="ellipse">
            <a:avLst/>
          </a:prstGeom>
          <a:solidFill>
            <a:srgbClr val="D08A2E"/>
          </a:solidFill>
          <a:ln/>
        </p:spPr>
      </p:sp>
      <p:sp>
        <p:nvSpPr>
          <p:cNvPr id="6" name="Text 4"/>
          <p:cNvSpPr/>
          <p:nvPr/>
        </p:nvSpPr>
        <p:spPr>
          <a:xfrm>
            <a:off x="914400" y="2194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554480" y="212140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Deterministic validation first</a:t>
            </a:r>
            <a:endParaRPr lang="en-US" sz="1400" dirty="0"/>
          </a:p>
        </p:txBody>
      </p:sp>
      <p:sp>
        <p:nvSpPr>
          <p:cNvPr id="8" name="Text 6"/>
          <p:cNvSpPr/>
          <p:nvPr/>
        </p:nvSpPr>
        <p:spPr>
          <a:xfrm>
            <a:off x="914400" y="2697480"/>
            <a:ext cx="4709160" cy="914400"/>
          </a:xfrm>
          <a:prstGeom prst="rect">
            <a:avLst/>
          </a:prstGeom>
          <a:noFill/>
          <a:ln/>
        </p:spPr>
        <p:txBody>
          <a:bodyPr wrap="square" rtlCol="0" anchor="ctr"/>
          <a:lstStyle/>
          <a:p>
            <a:pPr indent="0" marL="0">
              <a:lnSpc>
                <a:spcPct val="120000"/>
              </a:lnSpc>
              <a:buNone/>
            </a:pPr>
            <a:r>
              <a:rPr lang="en-US" sz="1150" dirty="0">
                <a:solidFill>
                  <a:srgbClr val="2C2C2C"/>
                </a:solidFill>
                <a:latin typeface="Calibri" pitchFamily="34" charset="0"/>
                <a:ea typeface="Calibri" pitchFamily="34" charset="-122"/>
                <a:cs typeface="Calibri" pitchFamily="34" charset="-120"/>
              </a:rPr>
              <a:t>Required fields checked before any AI call is made, so bad input never costs an API call</a:t>
            </a:r>
            <a:endParaRPr lang="en-US" sz="1150" dirty="0"/>
          </a:p>
        </p:txBody>
      </p:sp>
      <p:sp>
        <p:nvSpPr>
          <p:cNvPr id="9" name="Shape 7"/>
          <p:cNvSpPr/>
          <p:nvPr/>
        </p:nvSpPr>
        <p:spPr>
          <a:xfrm>
            <a:off x="6172200" y="1920240"/>
            <a:ext cx="5257800" cy="1783080"/>
          </a:xfrm>
          <a:prstGeom prst="roundRect">
            <a:avLst>
              <a:gd name="adj" fmla="val 5128"/>
            </a:avLst>
          </a:prstGeom>
          <a:solidFill>
            <a:srgbClr val="EEF3F4"/>
          </a:solidFill>
          <a:ln/>
        </p:spPr>
      </p:sp>
      <p:sp>
        <p:nvSpPr>
          <p:cNvPr id="10" name="Shape 8"/>
          <p:cNvSpPr/>
          <p:nvPr/>
        </p:nvSpPr>
        <p:spPr>
          <a:xfrm>
            <a:off x="6446520" y="2194560"/>
            <a:ext cx="457200" cy="457200"/>
          </a:xfrm>
          <a:prstGeom prst="ellipse">
            <a:avLst/>
          </a:prstGeom>
          <a:solidFill>
            <a:srgbClr val="D08A2E"/>
          </a:solidFill>
          <a:ln/>
        </p:spPr>
      </p:sp>
      <p:sp>
        <p:nvSpPr>
          <p:cNvPr id="11" name="Text 9"/>
          <p:cNvSpPr/>
          <p:nvPr/>
        </p:nvSpPr>
        <p:spPr>
          <a:xfrm>
            <a:off x="6446520" y="21945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086600" y="212140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Structured output before trust</a:t>
            </a:r>
            <a:endParaRPr lang="en-US" sz="1400" dirty="0"/>
          </a:p>
        </p:txBody>
      </p:sp>
      <p:sp>
        <p:nvSpPr>
          <p:cNvPr id="13" name="Text 11"/>
          <p:cNvSpPr/>
          <p:nvPr/>
        </p:nvSpPr>
        <p:spPr>
          <a:xfrm>
            <a:off x="6446520" y="2697480"/>
            <a:ext cx="4709160" cy="914400"/>
          </a:xfrm>
          <a:prstGeom prst="rect">
            <a:avLst/>
          </a:prstGeom>
          <a:noFill/>
          <a:ln/>
        </p:spPr>
        <p:txBody>
          <a:bodyPr wrap="square" rtlCol="0" anchor="ctr"/>
          <a:lstStyle/>
          <a:p>
            <a:pPr indent="0" marL="0">
              <a:lnSpc>
                <a:spcPct val="120000"/>
              </a:lnSpc>
              <a:buNone/>
            </a:pPr>
            <a:r>
              <a:rPr lang="en-US" sz="1150" dirty="0">
                <a:solidFill>
                  <a:srgbClr val="2C2C2C"/>
                </a:solidFill>
                <a:latin typeface="Calibri" pitchFamily="34" charset="0"/>
                <a:ea typeface="Calibri" pitchFamily="34" charset="-122"/>
                <a:cs typeface="Calibri" pitchFamily="34" charset="-120"/>
              </a:rPr>
              <a:t>AI output is parsed and validated before any downstream node uses it</a:t>
            </a:r>
            <a:endParaRPr lang="en-US" sz="1150" dirty="0"/>
          </a:p>
        </p:txBody>
      </p:sp>
      <p:sp>
        <p:nvSpPr>
          <p:cNvPr id="14" name="Shape 12"/>
          <p:cNvSpPr/>
          <p:nvPr/>
        </p:nvSpPr>
        <p:spPr>
          <a:xfrm>
            <a:off x="640080" y="3977640"/>
            <a:ext cx="5257800" cy="1783080"/>
          </a:xfrm>
          <a:prstGeom prst="roundRect">
            <a:avLst>
              <a:gd name="adj" fmla="val 5128"/>
            </a:avLst>
          </a:prstGeom>
          <a:solidFill>
            <a:srgbClr val="EEF3F4"/>
          </a:solidFill>
          <a:ln/>
        </p:spPr>
      </p:sp>
      <p:sp>
        <p:nvSpPr>
          <p:cNvPr id="15" name="Shape 13"/>
          <p:cNvSpPr/>
          <p:nvPr/>
        </p:nvSpPr>
        <p:spPr>
          <a:xfrm>
            <a:off x="914400" y="4251960"/>
            <a:ext cx="457200" cy="457200"/>
          </a:xfrm>
          <a:prstGeom prst="ellipse">
            <a:avLst/>
          </a:prstGeom>
          <a:solidFill>
            <a:srgbClr val="D08A2E"/>
          </a:solidFill>
          <a:ln/>
        </p:spPr>
      </p:sp>
      <p:sp>
        <p:nvSpPr>
          <p:cNvPr id="16" name="Text 14"/>
          <p:cNvSpPr/>
          <p:nvPr/>
        </p:nvSpPr>
        <p:spPr>
          <a:xfrm>
            <a:off x="914400" y="42519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554480" y="417880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Switch fallback routing</a:t>
            </a:r>
            <a:endParaRPr lang="en-US" sz="1400" dirty="0"/>
          </a:p>
        </p:txBody>
      </p:sp>
      <p:sp>
        <p:nvSpPr>
          <p:cNvPr id="18" name="Text 16"/>
          <p:cNvSpPr/>
          <p:nvPr/>
        </p:nvSpPr>
        <p:spPr>
          <a:xfrm>
            <a:off x="914400" y="4754880"/>
            <a:ext cx="4709160" cy="914400"/>
          </a:xfrm>
          <a:prstGeom prst="rect">
            <a:avLst/>
          </a:prstGeom>
          <a:noFill/>
          <a:ln/>
        </p:spPr>
        <p:txBody>
          <a:bodyPr wrap="square" rtlCol="0" anchor="ctr"/>
          <a:lstStyle/>
          <a:p>
            <a:pPr indent="0" marL="0">
              <a:lnSpc>
                <a:spcPct val="120000"/>
              </a:lnSpc>
              <a:buNone/>
            </a:pPr>
            <a:r>
              <a:rPr lang="en-US" sz="1150" dirty="0">
                <a:solidFill>
                  <a:srgbClr val="2C2C2C"/>
                </a:solidFill>
                <a:latin typeface="Calibri" pitchFamily="34" charset="0"/>
                <a:ea typeface="Calibri" pitchFamily="34" charset="-122"/>
                <a:cs typeface="Calibri" pitchFamily="34" charset="-120"/>
              </a:rPr>
              <a:t>Decision values that don't match a defined rule are caught, not silently dropped</a:t>
            </a:r>
            <a:endParaRPr lang="en-US" sz="1150" dirty="0"/>
          </a:p>
        </p:txBody>
      </p:sp>
      <p:sp>
        <p:nvSpPr>
          <p:cNvPr id="19" name="Shape 17"/>
          <p:cNvSpPr/>
          <p:nvPr/>
        </p:nvSpPr>
        <p:spPr>
          <a:xfrm>
            <a:off x="6172200" y="3977640"/>
            <a:ext cx="5257800" cy="1783080"/>
          </a:xfrm>
          <a:prstGeom prst="roundRect">
            <a:avLst>
              <a:gd name="adj" fmla="val 5128"/>
            </a:avLst>
          </a:prstGeom>
          <a:solidFill>
            <a:srgbClr val="EEF3F4"/>
          </a:solidFill>
          <a:ln/>
        </p:spPr>
      </p:sp>
      <p:sp>
        <p:nvSpPr>
          <p:cNvPr id="20" name="Shape 18"/>
          <p:cNvSpPr/>
          <p:nvPr/>
        </p:nvSpPr>
        <p:spPr>
          <a:xfrm>
            <a:off x="6446520" y="4251960"/>
            <a:ext cx="457200" cy="457200"/>
          </a:xfrm>
          <a:prstGeom prst="ellipse">
            <a:avLst/>
          </a:prstGeom>
          <a:solidFill>
            <a:srgbClr val="D08A2E"/>
          </a:solidFill>
          <a:ln/>
        </p:spPr>
      </p:sp>
      <p:sp>
        <p:nvSpPr>
          <p:cNvPr id="21" name="Text 19"/>
          <p:cNvSpPr/>
          <p:nvPr/>
        </p:nvSpPr>
        <p:spPr>
          <a:xfrm>
            <a:off x="6446520" y="42519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086600" y="417880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Root-cause bug fixes</a:t>
            </a:r>
            <a:endParaRPr lang="en-US" sz="1400" dirty="0"/>
          </a:p>
        </p:txBody>
      </p:sp>
      <p:sp>
        <p:nvSpPr>
          <p:cNvPr id="23" name="Text 21"/>
          <p:cNvSpPr/>
          <p:nvPr/>
        </p:nvSpPr>
        <p:spPr>
          <a:xfrm>
            <a:off x="6446520" y="4754880"/>
            <a:ext cx="4709160" cy="914400"/>
          </a:xfrm>
          <a:prstGeom prst="rect">
            <a:avLst/>
          </a:prstGeom>
          <a:noFill/>
          <a:ln/>
        </p:spPr>
        <p:txBody>
          <a:bodyPr wrap="square" rtlCol="0" anchor="ctr"/>
          <a:lstStyle/>
          <a:p>
            <a:pPr indent="0" marL="0">
              <a:lnSpc>
                <a:spcPct val="120000"/>
              </a:lnSpc>
              <a:buNone/>
            </a:pPr>
            <a:r>
              <a:rPr lang="en-US" sz="1150" dirty="0">
                <a:solidFill>
                  <a:srgbClr val="2C2C2C"/>
                </a:solidFill>
                <a:latin typeface="Calibri" pitchFamily="34" charset="0"/>
                <a:ea typeface="Calibri" pitchFamily="34" charset="-122"/>
                <a:cs typeface="Calibri" pitchFamily="34" charset="-120"/>
              </a:rPr>
              <a:t>5 real bugs found via full workflow audit: field mis-mapping, a silent overwrite, and two emails missing their body</a:t>
            </a:r>
            <a:endParaRPr lang="en-US" sz="1150" dirty="0"/>
          </a:p>
        </p:txBody>
      </p:sp>
      <p:sp>
        <p:nvSpPr>
          <p:cNvPr id="24" name="Text 22"/>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25" name="Text 23"/>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Security</a:t>
            </a:r>
            <a:endParaRPr lang="en-US" sz="3200" dirty="0"/>
          </a:p>
        </p:txBody>
      </p:sp>
      <p:sp>
        <p:nvSpPr>
          <p:cNvPr id="3" name="Shape 1"/>
          <p:cNvSpPr/>
          <p:nvPr/>
        </p:nvSpPr>
        <p:spPr>
          <a:xfrm>
            <a:off x="640080" y="1417320"/>
            <a:ext cx="5257800" cy="2057400"/>
          </a:xfrm>
          <a:prstGeom prst="roundRect">
            <a:avLst>
              <a:gd name="adj" fmla="val 4444"/>
            </a:avLst>
          </a:prstGeom>
          <a:solidFill>
            <a:srgbClr val="EEF3F4"/>
          </a:solidFill>
          <a:ln/>
        </p:spPr>
      </p:sp>
      <p:sp>
        <p:nvSpPr>
          <p:cNvPr id="4" name="Shape 2"/>
          <p:cNvSpPr/>
          <p:nvPr/>
        </p:nvSpPr>
        <p:spPr>
          <a:xfrm>
            <a:off x="914400" y="1691640"/>
            <a:ext cx="457200" cy="457200"/>
          </a:xfrm>
          <a:prstGeom prst="ellipse">
            <a:avLst/>
          </a:prstGeom>
          <a:solidFill>
            <a:srgbClr val="2FC5A2"/>
          </a:solidFill>
          <a:ln/>
        </p:spPr>
      </p:sp>
      <p:sp>
        <p:nvSpPr>
          <p:cNvPr id="5" name="Text 3"/>
          <p:cNvSpPr/>
          <p:nvPr/>
        </p:nvSpPr>
        <p:spPr>
          <a:xfrm>
            <a:off x="914400" y="169164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554480" y="161848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Credential isolation</a:t>
            </a:r>
            <a:endParaRPr lang="en-US" sz="1400" dirty="0"/>
          </a:p>
        </p:txBody>
      </p:sp>
      <p:sp>
        <p:nvSpPr>
          <p:cNvPr id="7" name="Text 5"/>
          <p:cNvSpPr/>
          <p:nvPr/>
        </p:nvSpPr>
        <p:spPr>
          <a:xfrm>
            <a:off x="914400" y="2194560"/>
            <a:ext cx="4709160" cy="114300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All API keys and passwords live in n8n's credential store — never hardcoded in a node</a:t>
            </a:r>
            <a:endParaRPr lang="en-US" sz="1200" dirty="0"/>
          </a:p>
        </p:txBody>
      </p:sp>
      <p:sp>
        <p:nvSpPr>
          <p:cNvPr id="8" name="Shape 6"/>
          <p:cNvSpPr/>
          <p:nvPr/>
        </p:nvSpPr>
        <p:spPr>
          <a:xfrm>
            <a:off x="6172200" y="1417320"/>
            <a:ext cx="5257800" cy="2057400"/>
          </a:xfrm>
          <a:prstGeom prst="roundRect">
            <a:avLst>
              <a:gd name="adj" fmla="val 4444"/>
            </a:avLst>
          </a:prstGeom>
          <a:solidFill>
            <a:srgbClr val="EEF3F4"/>
          </a:solidFill>
          <a:ln/>
        </p:spPr>
      </p:sp>
      <p:sp>
        <p:nvSpPr>
          <p:cNvPr id="9" name="Shape 7"/>
          <p:cNvSpPr/>
          <p:nvPr/>
        </p:nvSpPr>
        <p:spPr>
          <a:xfrm>
            <a:off x="6446520" y="1691640"/>
            <a:ext cx="457200" cy="457200"/>
          </a:xfrm>
          <a:prstGeom prst="ellipse">
            <a:avLst/>
          </a:prstGeom>
          <a:solidFill>
            <a:srgbClr val="2FC5A2"/>
          </a:solidFill>
          <a:ln/>
        </p:spPr>
      </p:sp>
      <p:sp>
        <p:nvSpPr>
          <p:cNvPr id="10" name="Text 8"/>
          <p:cNvSpPr/>
          <p:nvPr/>
        </p:nvSpPr>
        <p:spPr>
          <a:xfrm>
            <a:off x="6446520" y="169164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7086600" y="161848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Injection testing</a:t>
            </a:r>
            <a:endParaRPr lang="en-US" sz="1400" dirty="0"/>
          </a:p>
        </p:txBody>
      </p:sp>
      <p:sp>
        <p:nvSpPr>
          <p:cNvPr id="12" name="Text 10"/>
          <p:cNvSpPr/>
          <p:nvPr/>
        </p:nvSpPr>
        <p:spPr>
          <a:xfrm>
            <a:off x="6446520" y="2194560"/>
            <a:ext cx="4709160" cy="114300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Resume and name fields tested with script and SQL injection payloads; stored as plain text only</a:t>
            </a:r>
            <a:endParaRPr lang="en-US" sz="1200" dirty="0"/>
          </a:p>
        </p:txBody>
      </p:sp>
      <p:sp>
        <p:nvSpPr>
          <p:cNvPr id="13" name="Shape 11"/>
          <p:cNvSpPr/>
          <p:nvPr/>
        </p:nvSpPr>
        <p:spPr>
          <a:xfrm>
            <a:off x="640080" y="3749040"/>
            <a:ext cx="5257800" cy="2057400"/>
          </a:xfrm>
          <a:prstGeom prst="roundRect">
            <a:avLst>
              <a:gd name="adj" fmla="val 4444"/>
            </a:avLst>
          </a:prstGeom>
          <a:solidFill>
            <a:srgbClr val="EEF3F4"/>
          </a:solidFill>
          <a:ln/>
        </p:spPr>
      </p:sp>
      <p:sp>
        <p:nvSpPr>
          <p:cNvPr id="14" name="Shape 12"/>
          <p:cNvSpPr/>
          <p:nvPr/>
        </p:nvSpPr>
        <p:spPr>
          <a:xfrm>
            <a:off x="914400" y="4023360"/>
            <a:ext cx="457200" cy="457200"/>
          </a:xfrm>
          <a:prstGeom prst="ellipse">
            <a:avLst/>
          </a:prstGeom>
          <a:solidFill>
            <a:srgbClr val="2FC5A2"/>
          </a:solidFill>
          <a:ln/>
        </p:spPr>
      </p:sp>
      <p:sp>
        <p:nvSpPr>
          <p:cNvPr id="15" name="Text 13"/>
          <p:cNvSpPr/>
          <p:nvPr/>
        </p:nvSpPr>
        <p:spPr>
          <a:xfrm>
            <a:off x="914400" y="402336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554480" y="395020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No secret leakage</a:t>
            </a:r>
            <a:endParaRPr lang="en-US" sz="1400" dirty="0"/>
          </a:p>
        </p:txBody>
      </p:sp>
      <p:sp>
        <p:nvSpPr>
          <p:cNvPr id="17" name="Text 15"/>
          <p:cNvSpPr/>
          <p:nvPr/>
        </p:nvSpPr>
        <p:spPr>
          <a:xfrm>
            <a:off x="914400" y="4526280"/>
            <a:ext cx="4709160" cy="114300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Verified error messages, emails, and logs never expose API keys or passwords, even during induced failures</a:t>
            </a:r>
            <a:endParaRPr lang="en-US" sz="1200" dirty="0"/>
          </a:p>
        </p:txBody>
      </p:sp>
      <p:sp>
        <p:nvSpPr>
          <p:cNvPr id="18" name="Shape 16"/>
          <p:cNvSpPr/>
          <p:nvPr/>
        </p:nvSpPr>
        <p:spPr>
          <a:xfrm>
            <a:off x="6172200" y="3749040"/>
            <a:ext cx="5257800" cy="2057400"/>
          </a:xfrm>
          <a:prstGeom prst="roundRect">
            <a:avLst>
              <a:gd name="adj" fmla="val 4444"/>
            </a:avLst>
          </a:prstGeom>
          <a:solidFill>
            <a:srgbClr val="EEF3F4"/>
          </a:solidFill>
          <a:ln/>
        </p:spPr>
      </p:sp>
      <p:sp>
        <p:nvSpPr>
          <p:cNvPr id="19" name="Shape 17"/>
          <p:cNvSpPr/>
          <p:nvPr/>
        </p:nvSpPr>
        <p:spPr>
          <a:xfrm>
            <a:off x="6446520" y="4023360"/>
            <a:ext cx="457200" cy="457200"/>
          </a:xfrm>
          <a:prstGeom prst="ellipse">
            <a:avLst/>
          </a:prstGeom>
          <a:solidFill>
            <a:srgbClr val="2FC5A2"/>
          </a:solidFill>
          <a:ln/>
        </p:spPr>
      </p:sp>
      <p:sp>
        <p:nvSpPr>
          <p:cNvPr id="20" name="Text 18"/>
          <p:cNvSpPr/>
          <p:nvPr/>
        </p:nvSpPr>
        <p:spPr>
          <a:xfrm>
            <a:off x="6446520" y="4023360"/>
            <a:ext cx="457200" cy="457200"/>
          </a:xfrm>
          <a:prstGeom prst="rect">
            <a:avLst/>
          </a:prstGeom>
          <a:noFill/>
          <a:ln/>
        </p:spPr>
        <p:txBody>
          <a:bodyPr wrap="square" rtlCol="0" anchor="ctr"/>
          <a:lstStyle/>
          <a:p>
            <a:pPr algn="ctr" indent="0" marL="0">
              <a:buNone/>
            </a:pPr>
            <a:r>
              <a:rPr lang="en-US" sz="1800" b="1" dirty="0">
                <a:solidFill>
                  <a:srgbClr val="1F3B57"/>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7086600" y="3950208"/>
            <a:ext cx="4160520" cy="365760"/>
          </a:xfrm>
          <a:prstGeom prst="rect">
            <a:avLst/>
          </a:prstGeom>
          <a:noFill/>
          <a:ln/>
        </p:spPr>
        <p:txBody>
          <a:bodyPr wrap="square"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Data minimization</a:t>
            </a:r>
            <a:endParaRPr lang="en-US" sz="1400" dirty="0"/>
          </a:p>
        </p:txBody>
      </p:sp>
      <p:sp>
        <p:nvSpPr>
          <p:cNvPr id="22" name="Text 20"/>
          <p:cNvSpPr/>
          <p:nvPr/>
        </p:nvSpPr>
        <p:spPr>
          <a:xfrm>
            <a:off x="6446520" y="4526280"/>
            <a:ext cx="4709160" cy="114300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Only fields required for evaluation are stored; access restricted to authorized accounts</a:t>
            </a:r>
            <a:endParaRPr lang="en-US" sz="1200" dirty="0"/>
          </a:p>
        </p:txBody>
      </p:sp>
      <p:sp>
        <p:nvSpPr>
          <p:cNvPr id="23" name="Text 21"/>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24" name="Text 22"/>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rtlCol="0" anchor="ctr"/>
          <a:lstStyle/>
          <a:p>
            <a:pPr indent="0" marL="0">
              <a:buNone/>
            </a:pPr>
            <a:r>
              <a:rPr lang="en-US" sz="3200" b="1" dirty="0">
                <a:solidFill>
                  <a:srgbClr val="1F3B57"/>
                </a:solidFill>
                <a:latin typeface="Cambria" pitchFamily="34" charset="0"/>
                <a:ea typeface="Cambria" pitchFamily="34" charset="-122"/>
                <a:cs typeface="Cambria" pitchFamily="34" charset="-120"/>
              </a:rPr>
              <a:t>Business Benefits</a:t>
            </a:r>
            <a:endParaRPr lang="en-US" sz="3200" dirty="0"/>
          </a:p>
        </p:txBody>
      </p:sp>
      <p:sp>
        <p:nvSpPr>
          <p:cNvPr id="3" name="Shape 1"/>
          <p:cNvSpPr/>
          <p:nvPr/>
        </p:nvSpPr>
        <p:spPr>
          <a:xfrm>
            <a:off x="640080" y="1920240"/>
            <a:ext cx="2560320" cy="3108960"/>
          </a:xfrm>
          <a:prstGeom prst="roundRect">
            <a:avLst>
              <a:gd name="adj" fmla="val 4286"/>
            </a:avLst>
          </a:prstGeom>
          <a:solidFill>
            <a:srgbClr val="1F3B57"/>
          </a:solidFill>
          <a:ln/>
        </p:spPr>
      </p:sp>
      <p:sp>
        <p:nvSpPr>
          <p:cNvPr id="4" name="Shape 2"/>
          <p:cNvSpPr/>
          <p:nvPr/>
        </p:nvSpPr>
        <p:spPr>
          <a:xfrm>
            <a:off x="1600200" y="2240280"/>
            <a:ext cx="640080" cy="640080"/>
          </a:xfrm>
          <a:prstGeom prst="ellipse">
            <a:avLst/>
          </a:prstGeom>
          <a:solidFill>
            <a:srgbClr val="2FC5A2"/>
          </a:solidFill>
          <a:ln/>
        </p:spPr>
      </p:sp>
      <p:sp>
        <p:nvSpPr>
          <p:cNvPr id="5" name="Text 3"/>
          <p:cNvSpPr/>
          <p:nvPr/>
        </p:nvSpPr>
        <p:spPr>
          <a:xfrm>
            <a:off x="1600200" y="2240280"/>
            <a:ext cx="640080" cy="640080"/>
          </a:xfrm>
          <a:prstGeom prst="rect">
            <a:avLst/>
          </a:prstGeom>
          <a:noFill/>
          <a:ln/>
        </p:spPr>
        <p:txBody>
          <a:bodyPr wrap="square" rtlCol="0" anchor="ctr"/>
          <a:lstStyle/>
          <a:p>
            <a:pPr algn="ctr" indent="0" marL="0">
              <a:buNone/>
            </a:pPr>
            <a:r>
              <a:rPr lang="en-US" sz="2600" b="1" dirty="0">
                <a:solidFill>
                  <a:srgbClr val="1F3B57"/>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777240" y="3108960"/>
            <a:ext cx="2286000" cy="54864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Faster screening</a:t>
            </a:r>
            <a:endParaRPr lang="en-US" sz="1450" dirty="0"/>
          </a:p>
        </p:txBody>
      </p:sp>
      <p:sp>
        <p:nvSpPr>
          <p:cNvPr id="7" name="Text 5"/>
          <p:cNvSpPr/>
          <p:nvPr/>
        </p:nvSpPr>
        <p:spPr>
          <a:xfrm>
            <a:off x="822960" y="3703320"/>
            <a:ext cx="2194560" cy="1188720"/>
          </a:xfrm>
          <a:prstGeom prst="rect">
            <a:avLst/>
          </a:prstGeom>
          <a:noFill/>
          <a:ln/>
        </p:spPr>
        <p:txBody>
          <a:bodyPr wrap="square" rtlCol="0" anchor="ctr"/>
          <a:lstStyle/>
          <a:p>
            <a:pPr algn="ctr" indent="0" marL="0">
              <a:lnSpc>
                <a:spcPct val="120000"/>
              </a:lnSpc>
              <a:buNone/>
            </a:pPr>
            <a:r>
              <a:rPr lang="en-US" sz="1150" dirty="0">
                <a:solidFill>
                  <a:srgbClr val="C9D6E0"/>
                </a:solidFill>
                <a:latin typeface="Calibri" pitchFamily="34" charset="0"/>
                <a:ea typeface="Calibri" pitchFamily="34" charset="-122"/>
                <a:cs typeface="Calibri" pitchFamily="34" charset="-120"/>
              </a:rPr>
              <a:t>AI scoring turns a manual read into seconds of structured analysis</a:t>
            </a:r>
            <a:endParaRPr lang="en-US" sz="1150" dirty="0"/>
          </a:p>
        </p:txBody>
      </p:sp>
      <p:sp>
        <p:nvSpPr>
          <p:cNvPr id="8" name="Shape 6"/>
          <p:cNvSpPr/>
          <p:nvPr/>
        </p:nvSpPr>
        <p:spPr>
          <a:xfrm>
            <a:off x="3456432" y="1920240"/>
            <a:ext cx="2560320" cy="3108960"/>
          </a:xfrm>
          <a:prstGeom prst="roundRect">
            <a:avLst>
              <a:gd name="adj" fmla="val 4286"/>
            </a:avLst>
          </a:prstGeom>
          <a:solidFill>
            <a:srgbClr val="1F3B57"/>
          </a:solidFill>
          <a:ln/>
        </p:spPr>
      </p:sp>
      <p:sp>
        <p:nvSpPr>
          <p:cNvPr id="9" name="Shape 7"/>
          <p:cNvSpPr/>
          <p:nvPr/>
        </p:nvSpPr>
        <p:spPr>
          <a:xfrm>
            <a:off x="4416552" y="2240280"/>
            <a:ext cx="640080" cy="640080"/>
          </a:xfrm>
          <a:prstGeom prst="ellipse">
            <a:avLst/>
          </a:prstGeom>
          <a:solidFill>
            <a:srgbClr val="2FC5A2"/>
          </a:solidFill>
          <a:ln/>
        </p:spPr>
      </p:sp>
      <p:sp>
        <p:nvSpPr>
          <p:cNvPr id="10" name="Text 8"/>
          <p:cNvSpPr/>
          <p:nvPr/>
        </p:nvSpPr>
        <p:spPr>
          <a:xfrm>
            <a:off x="4416552" y="2240280"/>
            <a:ext cx="640080" cy="640080"/>
          </a:xfrm>
          <a:prstGeom prst="rect">
            <a:avLst/>
          </a:prstGeom>
          <a:noFill/>
          <a:ln/>
        </p:spPr>
        <p:txBody>
          <a:bodyPr wrap="square" rtlCol="0" anchor="ctr"/>
          <a:lstStyle/>
          <a:p>
            <a:pPr algn="ctr" indent="0" marL="0">
              <a:buNone/>
            </a:pPr>
            <a:r>
              <a:rPr lang="en-US" sz="2600" b="1" dirty="0">
                <a:solidFill>
                  <a:srgbClr val="1F3B57"/>
                </a:solidFill>
                <a:latin typeface="Calibri" pitchFamily="34" charset="0"/>
                <a:ea typeface="Calibri" pitchFamily="34" charset="-122"/>
                <a:cs typeface="Calibri" pitchFamily="34" charset="-120"/>
              </a:rPr>
              <a:t>2</a:t>
            </a:r>
            <a:endParaRPr lang="en-US" sz="2600" dirty="0"/>
          </a:p>
        </p:txBody>
      </p:sp>
      <p:sp>
        <p:nvSpPr>
          <p:cNvPr id="11" name="Text 9"/>
          <p:cNvSpPr/>
          <p:nvPr/>
        </p:nvSpPr>
        <p:spPr>
          <a:xfrm>
            <a:off x="3593592" y="3108960"/>
            <a:ext cx="2286000" cy="54864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Consistent scoring</a:t>
            </a:r>
            <a:endParaRPr lang="en-US" sz="1450" dirty="0"/>
          </a:p>
        </p:txBody>
      </p:sp>
      <p:sp>
        <p:nvSpPr>
          <p:cNvPr id="12" name="Text 10"/>
          <p:cNvSpPr/>
          <p:nvPr/>
        </p:nvSpPr>
        <p:spPr>
          <a:xfrm>
            <a:off x="3639312" y="3703320"/>
            <a:ext cx="2194560" cy="1188720"/>
          </a:xfrm>
          <a:prstGeom prst="rect">
            <a:avLst/>
          </a:prstGeom>
          <a:noFill/>
          <a:ln/>
        </p:spPr>
        <p:txBody>
          <a:bodyPr wrap="square" rtlCol="0" anchor="ctr"/>
          <a:lstStyle/>
          <a:p>
            <a:pPr algn="ctr" indent="0" marL="0">
              <a:lnSpc>
                <a:spcPct val="120000"/>
              </a:lnSpc>
              <a:buNone/>
            </a:pPr>
            <a:r>
              <a:rPr lang="en-US" sz="1150" dirty="0">
                <a:solidFill>
                  <a:srgbClr val="C9D6E0"/>
                </a:solidFill>
                <a:latin typeface="Calibri" pitchFamily="34" charset="0"/>
                <a:ea typeface="Calibri" pitchFamily="34" charset="-122"/>
                <a:cs typeface="Calibri" pitchFamily="34" charset="-120"/>
              </a:rPr>
              <a:t>Every candidate is judged against the same rubric, every time</a:t>
            </a:r>
            <a:endParaRPr lang="en-US" sz="1150" dirty="0"/>
          </a:p>
        </p:txBody>
      </p:sp>
      <p:sp>
        <p:nvSpPr>
          <p:cNvPr id="13" name="Shape 11"/>
          <p:cNvSpPr/>
          <p:nvPr/>
        </p:nvSpPr>
        <p:spPr>
          <a:xfrm>
            <a:off x="6272784" y="1920240"/>
            <a:ext cx="2560320" cy="3108960"/>
          </a:xfrm>
          <a:prstGeom prst="roundRect">
            <a:avLst>
              <a:gd name="adj" fmla="val 4286"/>
            </a:avLst>
          </a:prstGeom>
          <a:solidFill>
            <a:srgbClr val="1F3B57"/>
          </a:solidFill>
          <a:ln/>
        </p:spPr>
      </p:sp>
      <p:sp>
        <p:nvSpPr>
          <p:cNvPr id="14" name="Shape 12"/>
          <p:cNvSpPr/>
          <p:nvPr/>
        </p:nvSpPr>
        <p:spPr>
          <a:xfrm>
            <a:off x="7232904" y="2240280"/>
            <a:ext cx="640080" cy="640080"/>
          </a:xfrm>
          <a:prstGeom prst="ellipse">
            <a:avLst/>
          </a:prstGeom>
          <a:solidFill>
            <a:srgbClr val="2FC5A2"/>
          </a:solidFill>
          <a:ln/>
        </p:spPr>
      </p:sp>
      <p:sp>
        <p:nvSpPr>
          <p:cNvPr id="15" name="Text 13"/>
          <p:cNvSpPr/>
          <p:nvPr/>
        </p:nvSpPr>
        <p:spPr>
          <a:xfrm>
            <a:off x="7232904" y="2240280"/>
            <a:ext cx="640080" cy="640080"/>
          </a:xfrm>
          <a:prstGeom prst="rect">
            <a:avLst/>
          </a:prstGeom>
          <a:noFill/>
          <a:ln/>
        </p:spPr>
        <p:txBody>
          <a:bodyPr wrap="square" rtlCol="0" anchor="ctr"/>
          <a:lstStyle/>
          <a:p>
            <a:pPr algn="ctr" indent="0" marL="0">
              <a:buNone/>
            </a:pPr>
            <a:r>
              <a:rPr lang="en-US" sz="2600" b="1" dirty="0">
                <a:solidFill>
                  <a:srgbClr val="1F3B57"/>
                </a:solidFill>
                <a:latin typeface="Calibri" pitchFamily="34" charset="0"/>
                <a:ea typeface="Calibri" pitchFamily="34" charset="-122"/>
                <a:cs typeface="Calibri" pitchFamily="34" charset="-120"/>
              </a:rPr>
              <a:t>3</a:t>
            </a:r>
            <a:endParaRPr lang="en-US" sz="2600" dirty="0"/>
          </a:p>
        </p:txBody>
      </p:sp>
      <p:sp>
        <p:nvSpPr>
          <p:cNvPr id="16" name="Text 14"/>
          <p:cNvSpPr/>
          <p:nvPr/>
        </p:nvSpPr>
        <p:spPr>
          <a:xfrm>
            <a:off x="6409944" y="3108960"/>
            <a:ext cx="2286000" cy="54864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Full audit trail</a:t>
            </a:r>
            <a:endParaRPr lang="en-US" sz="1450" dirty="0"/>
          </a:p>
        </p:txBody>
      </p:sp>
      <p:sp>
        <p:nvSpPr>
          <p:cNvPr id="17" name="Text 15"/>
          <p:cNvSpPr/>
          <p:nvPr/>
        </p:nvSpPr>
        <p:spPr>
          <a:xfrm>
            <a:off x="6455664" y="3703320"/>
            <a:ext cx="2194560" cy="1188720"/>
          </a:xfrm>
          <a:prstGeom prst="rect">
            <a:avLst/>
          </a:prstGeom>
          <a:noFill/>
          <a:ln/>
        </p:spPr>
        <p:txBody>
          <a:bodyPr wrap="square" rtlCol="0" anchor="ctr"/>
          <a:lstStyle/>
          <a:p>
            <a:pPr algn="ctr" indent="0" marL="0">
              <a:lnSpc>
                <a:spcPct val="120000"/>
              </a:lnSpc>
              <a:buNone/>
            </a:pPr>
            <a:r>
              <a:rPr lang="en-US" sz="1150" dirty="0">
                <a:solidFill>
                  <a:srgbClr val="C9D6E0"/>
                </a:solidFill>
                <a:latin typeface="Calibri" pitchFamily="34" charset="0"/>
                <a:ea typeface="Calibri" pitchFamily="34" charset="-122"/>
                <a:cs typeface="Calibri" pitchFamily="34" charset="-120"/>
              </a:rPr>
              <a:t>Every decision — human or AI — is timestamped and recorded</a:t>
            </a:r>
            <a:endParaRPr lang="en-US" sz="1150" dirty="0"/>
          </a:p>
        </p:txBody>
      </p:sp>
      <p:sp>
        <p:nvSpPr>
          <p:cNvPr id="18" name="Shape 16"/>
          <p:cNvSpPr/>
          <p:nvPr/>
        </p:nvSpPr>
        <p:spPr>
          <a:xfrm>
            <a:off x="9089136" y="1920240"/>
            <a:ext cx="2560320" cy="3108960"/>
          </a:xfrm>
          <a:prstGeom prst="roundRect">
            <a:avLst>
              <a:gd name="adj" fmla="val 4286"/>
            </a:avLst>
          </a:prstGeom>
          <a:solidFill>
            <a:srgbClr val="1F3B57"/>
          </a:solidFill>
          <a:ln/>
        </p:spPr>
      </p:sp>
      <p:sp>
        <p:nvSpPr>
          <p:cNvPr id="19" name="Shape 17"/>
          <p:cNvSpPr/>
          <p:nvPr/>
        </p:nvSpPr>
        <p:spPr>
          <a:xfrm>
            <a:off x="10049256" y="2240280"/>
            <a:ext cx="640080" cy="640080"/>
          </a:xfrm>
          <a:prstGeom prst="ellipse">
            <a:avLst/>
          </a:prstGeom>
          <a:solidFill>
            <a:srgbClr val="2FC5A2"/>
          </a:solidFill>
          <a:ln/>
        </p:spPr>
      </p:sp>
      <p:sp>
        <p:nvSpPr>
          <p:cNvPr id="20" name="Text 18"/>
          <p:cNvSpPr/>
          <p:nvPr/>
        </p:nvSpPr>
        <p:spPr>
          <a:xfrm>
            <a:off x="10049256" y="2240280"/>
            <a:ext cx="640080" cy="640080"/>
          </a:xfrm>
          <a:prstGeom prst="rect">
            <a:avLst/>
          </a:prstGeom>
          <a:noFill/>
          <a:ln/>
        </p:spPr>
        <p:txBody>
          <a:bodyPr wrap="square" rtlCol="0" anchor="ctr"/>
          <a:lstStyle/>
          <a:p>
            <a:pPr algn="ctr" indent="0" marL="0">
              <a:buNone/>
            </a:pPr>
            <a:r>
              <a:rPr lang="en-US" sz="2600" b="1" dirty="0">
                <a:solidFill>
                  <a:srgbClr val="1F3B57"/>
                </a:solidFill>
                <a:latin typeface="Calibri" pitchFamily="34" charset="0"/>
                <a:ea typeface="Calibri" pitchFamily="34" charset="-122"/>
                <a:cs typeface="Calibri" pitchFamily="34" charset="-120"/>
              </a:rPr>
              <a:t>4</a:t>
            </a:r>
            <a:endParaRPr lang="en-US" sz="2600" dirty="0"/>
          </a:p>
        </p:txBody>
      </p:sp>
      <p:sp>
        <p:nvSpPr>
          <p:cNvPr id="21" name="Text 19"/>
          <p:cNvSpPr/>
          <p:nvPr/>
        </p:nvSpPr>
        <p:spPr>
          <a:xfrm>
            <a:off x="9226296" y="3108960"/>
            <a:ext cx="2286000" cy="54864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Recruiter stays in control</a:t>
            </a:r>
            <a:endParaRPr lang="en-US" sz="1450" dirty="0"/>
          </a:p>
        </p:txBody>
      </p:sp>
      <p:sp>
        <p:nvSpPr>
          <p:cNvPr id="22" name="Text 20"/>
          <p:cNvSpPr/>
          <p:nvPr/>
        </p:nvSpPr>
        <p:spPr>
          <a:xfrm>
            <a:off x="9272016" y="3703320"/>
            <a:ext cx="2194560" cy="1188720"/>
          </a:xfrm>
          <a:prstGeom prst="rect">
            <a:avLst/>
          </a:prstGeom>
          <a:noFill/>
          <a:ln/>
        </p:spPr>
        <p:txBody>
          <a:bodyPr wrap="square" rtlCol="0" anchor="ctr"/>
          <a:lstStyle/>
          <a:p>
            <a:pPr algn="ctr" indent="0" marL="0">
              <a:lnSpc>
                <a:spcPct val="120000"/>
              </a:lnSpc>
              <a:buNone/>
            </a:pPr>
            <a:r>
              <a:rPr lang="en-US" sz="1150" dirty="0">
                <a:solidFill>
                  <a:srgbClr val="C9D6E0"/>
                </a:solidFill>
                <a:latin typeface="Calibri" pitchFamily="34" charset="0"/>
                <a:ea typeface="Calibri" pitchFamily="34" charset="-122"/>
                <a:cs typeface="Calibri" pitchFamily="34" charset="-120"/>
              </a:rPr>
              <a:t>AI assists judgment; it never replaces the final human call</a:t>
            </a:r>
            <a:endParaRPr lang="en-US" sz="1150" dirty="0"/>
          </a:p>
        </p:txBody>
      </p:sp>
      <p:sp>
        <p:nvSpPr>
          <p:cNvPr id="23" name="Text 21"/>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24" name="Text 22"/>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rtlCol="0" anchor="ctr"/>
          <a:lstStyle/>
          <a:p>
            <a:pPr indent="0" marL="0">
              <a:buNone/>
            </a:pPr>
            <a:r>
              <a:rPr lang="en-US" sz="3000" b="1" dirty="0">
                <a:solidFill>
                  <a:srgbClr val="1F3B57"/>
                </a:solidFill>
                <a:latin typeface="Cambria" pitchFamily="34" charset="0"/>
                <a:ea typeface="Cambria" pitchFamily="34" charset="-122"/>
                <a:cs typeface="Cambria" pitchFamily="34" charset="-120"/>
              </a:rPr>
              <a:t>Limitations &amp; Future Improvements</a:t>
            </a:r>
            <a:endParaRPr lang="en-US" sz="3000" dirty="0"/>
          </a:p>
        </p:txBody>
      </p:sp>
      <p:sp>
        <p:nvSpPr>
          <p:cNvPr id="3" name="Shape 1"/>
          <p:cNvSpPr/>
          <p:nvPr/>
        </p:nvSpPr>
        <p:spPr>
          <a:xfrm>
            <a:off x="640080" y="1371600"/>
            <a:ext cx="5257800" cy="4846320"/>
          </a:xfrm>
          <a:prstGeom prst="roundRect">
            <a:avLst>
              <a:gd name="adj" fmla="val 1887"/>
            </a:avLst>
          </a:prstGeom>
          <a:solidFill>
            <a:srgbClr val="EEF3F4"/>
          </a:solidFill>
          <a:ln/>
        </p:spPr>
      </p:sp>
      <p:sp>
        <p:nvSpPr>
          <p:cNvPr id="4" name="Text 2"/>
          <p:cNvSpPr/>
          <p:nvPr/>
        </p:nvSpPr>
        <p:spPr>
          <a:xfrm>
            <a:off x="914400" y="1600200"/>
            <a:ext cx="4754880" cy="365760"/>
          </a:xfrm>
          <a:prstGeom prst="rect">
            <a:avLst/>
          </a:prstGeom>
          <a:noFill/>
          <a:ln/>
        </p:spPr>
        <p:txBody>
          <a:bodyPr wrap="square" rtlCol="0" anchor="ctr"/>
          <a:lstStyle/>
          <a:p>
            <a:pPr indent="0" marL="0">
              <a:buNone/>
            </a:pPr>
            <a:r>
              <a:rPr lang="en-US" sz="1600" b="1" dirty="0">
                <a:solidFill>
                  <a:srgbClr val="C0524A"/>
                </a:solidFill>
                <a:latin typeface="Calibri" pitchFamily="34" charset="0"/>
                <a:ea typeface="Calibri" pitchFamily="34" charset="-122"/>
                <a:cs typeface="Calibri" pitchFamily="34" charset="-120"/>
              </a:rPr>
              <a:t>Current Limitations</a:t>
            </a:r>
            <a:endParaRPr lang="en-US" sz="1600" dirty="0"/>
          </a:p>
        </p:txBody>
      </p:sp>
      <p:sp>
        <p:nvSpPr>
          <p:cNvPr id="5" name="Shape 3"/>
          <p:cNvSpPr/>
          <p:nvPr/>
        </p:nvSpPr>
        <p:spPr>
          <a:xfrm>
            <a:off x="914400" y="2148840"/>
            <a:ext cx="274320" cy="274320"/>
          </a:xfrm>
          <a:prstGeom prst="ellipse">
            <a:avLst/>
          </a:prstGeom>
          <a:solidFill>
            <a:srgbClr val="C0524A"/>
          </a:solidFill>
          <a:ln/>
        </p:spPr>
      </p:sp>
      <p:sp>
        <p:nvSpPr>
          <p:cNvPr id="6" name="Text 4"/>
          <p:cNvSpPr/>
          <p:nvPr/>
        </p:nvSpPr>
        <p:spPr>
          <a:xfrm>
            <a:off x="914400" y="214884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325880" y="203911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Rule engine's required-skills list is fixed per role, not configurable per posting</a:t>
            </a:r>
            <a:endParaRPr lang="en-US" sz="1200" dirty="0"/>
          </a:p>
        </p:txBody>
      </p:sp>
      <p:sp>
        <p:nvSpPr>
          <p:cNvPr id="8" name="Shape 6"/>
          <p:cNvSpPr/>
          <p:nvPr/>
        </p:nvSpPr>
        <p:spPr>
          <a:xfrm>
            <a:off x="914400" y="3108960"/>
            <a:ext cx="274320" cy="274320"/>
          </a:xfrm>
          <a:prstGeom prst="ellipse">
            <a:avLst/>
          </a:prstGeom>
          <a:solidFill>
            <a:srgbClr val="C0524A"/>
          </a:solidFill>
          <a:ln/>
        </p:spPr>
      </p:sp>
      <p:sp>
        <p:nvSpPr>
          <p:cNvPr id="9" name="Text 7"/>
          <p:cNvSpPr/>
          <p:nvPr/>
        </p:nvSpPr>
        <p:spPr>
          <a:xfrm>
            <a:off x="914400" y="310896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325880" y="299923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Email is the only match key for updating an existing candidate record</a:t>
            </a:r>
            <a:endParaRPr lang="en-US" sz="1200" dirty="0"/>
          </a:p>
        </p:txBody>
      </p:sp>
      <p:sp>
        <p:nvSpPr>
          <p:cNvPr id="11" name="Shape 9"/>
          <p:cNvSpPr/>
          <p:nvPr/>
        </p:nvSpPr>
        <p:spPr>
          <a:xfrm>
            <a:off x="914400" y="4069080"/>
            <a:ext cx="274320" cy="274320"/>
          </a:xfrm>
          <a:prstGeom prst="ellipse">
            <a:avLst/>
          </a:prstGeom>
          <a:solidFill>
            <a:srgbClr val="C0524A"/>
          </a:solidFill>
          <a:ln/>
        </p:spPr>
      </p:sp>
      <p:sp>
        <p:nvSpPr>
          <p:cNvPr id="12" name="Text 10"/>
          <p:cNvSpPr/>
          <p:nvPr/>
        </p:nvSpPr>
        <p:spPr>
          <a:xfrm>
            <a:off x="914400" y="406908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325880" y="395935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Gemini free-tier quota limits testing volume in a single session</a:t>
            </a:r>
            <a:endParaRPr lang="en-US" sz="1200" dirty="0"/>
          </a:p>
        </p:txBody>
      </p:sp>
      <p:sp>
        <p:nvSpPr>
          <p:cNvPr id="14" name="Shape 12"/>
          <p:cNvSpPr/>
          <p:nvPr/>
        </p:nvSpPr>
        <p:spPr>
          <a:xfrm>
            <a:off x="914400" y="5029200"/>
            <a:ext cx="274320" cy="274320"/>
          </a:xfrm>
          <a:prstGeom prst="ellipse">
            <a:avLst/>
          </a:prstGeom>
          <a:solidFill>
            <a:srgbClr val="C0524A"/>
          </a:solidFill>
          <a:ln/>
        </p:spPr>
      </p:sp>
      <p:sp>
        <p:nvSpPr>
          <p:cNvPr id="15" name="Text 13"/>
          <p:cNvSpPr/>
          <p:nvPr/>
        </p:nvSpPr>
        <p:spPr>
          <a:xfrm>
            <a:off x="914400" y="502920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325880" y="491947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No automated interview-scheduling step yet — routing ends at notification</a:t>
            </a:r>
            <a:endParaRPr lang="en-US" sz="1200" dirty="0"/>
          </a:p>
        </p:txBody>
      </p:sp>
      <p:sp>
        <p:nvSpPr>
          <p:cNvPr id="17" name="Shape 15"/>
          <p:cNvSpPr/>
          <p:nvPr/>
        </p:nvSpPr>
        <p:spPr>
          <a:xfrm>
            <a:off x="6263640" y="1371600"/>
            <a:ext cx="5257800" cy="4846320"/>
          </a:xfrm>
          <a:prstGeom prst="roundRect">
            <a:avLst>
              <a:gd name="adj" fmla="val 1887"/>
            </a:avLst>
          </a:prstGeom>
          <a:solidFill>
            <a:srgbClr val="EEF3F4"/>
          </a:solidFill>
          <a:ln/>
        </p:spPr>
      </p:sp>
      <p:sp>
        <p:nvSpPr>
          <p:cNvPr id="18" name="Text 16"/>
          <p:cNvSpPr/>
          <p:nvPr/>
        </p:nvSpPr>
        <p:spPr>
          <a:xfrm>
            <a:off x="6537960" y="1600200"/>
            <a:ext cx="4754880" cy="365760"/>
          </a:xfrm>
          <a:prstGeom prst="rect">
            <a:avLst/>
          </a:prstGeom>
          <a:noFill/>
          <a:ln/>
        </p:spPr>
        <p:txBody>
          <a:bodyPr wrap="square" rtlCol="0" anchor="ctr"/>
          <a:lstStyle/>
          <a:p>
            <a:pPr indent="0" marL="0">
              <a:buNone/>
            </a:pPr>
            <a:r>
              <a:rPr lang="en-US" sz="1600" b="1" dirty="0">
                <a:solidFill>
                  <a:srgbClr val="1F7A8C"/>
                </a:solidFill>
                <a:latin typeface="Calibri" pitchFamily="34" charset="0"/>
                <a:ea typeface="Calibri" pitchFamily="34" charset="-122"/>
                <a:cs typeface="Calibri" pitchFamily="34" charset="-120"/>
              </a:rPr>
              <a:t>Future Improvements</a:t>
            </a:r>
            <a:endParaRPr lang="en-US" sz="1600" dirty="0"/>
          </a:p>
        </p:txBody>
      </p:sp>
      <p:sp>
        <p:nvSpPr>
          <p:cNvPr id="19" name="Shape 17"/>
          <p:cNvSpPr/>
          <p:nvPr/>
        </p:nvSpPr>
        <p:spPr>
          <a:xfrm>
            <a:off x="6537960" y="2148840"/>
            <a:ext cx="274320" cy="274320"/>
          </a:xfrm>
          <a:prstGeom prst="ellipse">
            <a:avLst/>
          </a:prstGeom>
          <a:solidFill>
            <a:srgbClr val="1F7A8C"/>
          </a:solidFill>
          <a:ln/>
        </p:spPr>
      </p:sp>
      <p:sp>
        <p:nvSpPr>
          <p:cNvPr id="20" name="Text 18"/>
          <p:cNvSpPr/>
          <p:nvPr/>
        </p:nvSpPr>
        <p:spPr>
          <a:xfrm>
            <a:off x="6537960" y="214884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6949440" y="203911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Configurable, per-role skill requirements instead of a fixed list</a:t>
            </a:r>
            <a:endParaRPr lang="en-US" sz="1200" dirty="0"/>
          </a:p>
        </p:txBody>
      </p:sp>
      <p:sp>
        <p:nvSpPr>
          <p:cNvPr id="22" name="Shape 20"/>
          <p:cNvSpPr/>
          <p:nvPr/>
        </p:nvSpPr>
        <p:spPr>
          <a:xfrm>
            <a:off x="6537960" y="3108960"/>
            <a:ext cx="274320" cy="274320"/>
          </a:xfrm>
          <a:prstGeom prst="ellipse">
            <a:avLst/>
          </a:prstGeom>
          <a:solidFill>
            <a:srgbClr val="1F7A8C"/>
          </a:solidFill>
          <a:ln/>
        </p:spPr>
      </p:sp>
      <p:sp>
        <p:nvSpPr>
          <p:cNvPr id="23" name="Text 21"/>
          <p:cNvSpPr/>
          <p:nvPr/>
        </p:nvSpPr>
        <p:spPr>
          <a:xfrm>
            <a:off x="6537960" y="310896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6949440" y="299923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Interview scheduling step after Shortlist, via a calendar API</a:t>
            </a:r>
            <a:endParaRPr lang="en-US" sz="1200" dirty="0"/>
          </a:p>
        </p:txBody>
      </p:sp>
      <p:sp>
        <p:nvSpPr>
          <p:cNvPr id="25" name="Shape 23"/>
          <p:cNvSpPr/>
          <p:nvPr/>
        </p:nvSpPr>
        <p:spPr>
          <a:xfrm>
            <a:off x="6537960" y="4069080"/>
            <a:ext cx="274320" cy="274320"/>
          </a:xfrm>
          <a:prstGeom prst="ellipse">
            <a:avLst/>
          </a:prstGeom>
          <a:solidFill>
            <a:srgbClr val="1F7A8C"/>
          </a:solidFill>
          <a:ln/>
        </p:spPr>
      </p:sp>
      <p:sp>
        <p:nvSpPr>
          <p:cNvPr id="26" name="Text 24"/>
          <p:cNvSpPr/>
          <p:nvPr/>
        </p:nvSpPr>
        <p:spPr>
          <a:xfrm>
            <a:off x="6537960" y="406908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6949440" y="395935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Row-level uniqueness constraint on email to prevent duplicate candidates</a:t>
            </a:r>
            <a:endParaRPr lang="en-US" sz="1200" dirty="0"/>
          </a:p>
        </p:txBody>
      </p:sp>
      <p:sp>
        <p:nvSpPr>
          <p:cNvPr id="28" name="Shape 26"/>
          <p:cNvSpPr/>
          <p:nvPr/>
        </p:nvSpPr>
        <p:spPr>
          <a:xfrm>
            <a:off x="6537960" y="5029200"/>
            <a:ext cx="274320" cy="274320"/>
          </a:xfrm>
          <a:prstGeom prst="ellipse">
            <a:avLst/>
          </a:prstGeom>
          <a:solidFill>
            <a:srgbClr val="1F7A8C"/>
          </a:solidFill>
          <a:ln/>
        </p:spPr>
      </p:sp>
      <p:sp>
        <p:nvSpPr>
          <p:cNvPr id="29" name="Text 27"/>
          <p:cNvSpPr/>
          <p:nvPr/>
        </p:nvSpPr>
        <p:spPr>
          <a:xfrm>
            <a:off x="6537960" y="5029200"/>
            <a:ext cx="274320" cy="2743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8"/>
          <p:cNvSpPr/>
          <p:nvPr/>
        </p:nvSpPr>
        <p:spPr>
          <a:xfrm>
            <a:off x="6949440" y="4919472"/>
            <a:ext cx="4434840" cy="822960"/>
          </a:xfrm>
          <a:prstGeom prst="rect">
            <a:avLst/>
          </a:prstGeom>
          <a:noFill/>
          <a:ln/>
        </p:spPr>
        <p:txBody>
          <a:bodyPr wrap="square" rtlCol="0" anchor="ctr"/>
          <a:lstStyle/>
          <a:p>
            <a:pPr indent="0" marL="0">
              <a:lnSpc>
                <a:spcPct val="120000"/>
              </a:lnSpc>
              <a:buNone/>
            </a:pPr>
            <a:r>
              <a:rPr lang="en-US" sz="1200" dirty="0">
                <a:solidFill>
                  <a:srgbClr val="2C2C2C"/>
                </a:solidFill>
                <a:latin typeface="Calibri" pitchFamily="34" charset="0"/>
                <a:ea typeface="Calibri" pitchFamily="34" charset="-122"/>
                <a:cs typeface="Calibri" pitchFamily="34" charset="-120"/>
              </a:rPr>
              <a:t>A lightweight recruiter dashboard over the Supabase audit trail</a:t>
            </a:r>
            <a:endParaRPr lang="en-US" sz="1200" dirty="0"/>
          </a:p>
        </p:txBody>
      </p:sp>
      <p:sp>
        <p:nvSpPr>
          <p:cNvPr id="31" name="Text 29"/>
          <p:cNvSpPr/>
          <p:nvPr/>
        </p:nvSpPr>
        <p:spPr>
          <a:xfrm>
            <a:off x="457200" y="6537960"/>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Petalnex Pvt. Ltd.  •  AI Automation Internship  •  Day 36 Capstone</a:t>
            </a:r>
            <a:endParaRPr lang="en-US" sz="900" dirty="0"/>
          </a:p>
        </p:txBody>
      </p:sp>
      <p:sp>
        <p:nvSpPr>
          <p:cNvPr id="32" name="Text 30"/>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B57"/>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F7A8C">
              <a:alpha val="28000"/>
            </a:srgbClr>
          </a:solidFill>
          <a:ln/>
        </p:spPr>
      </p:sp>
      <p:sp>
        <p:nvSpPr>
          <p:cNvPr id="3" name="Shape 1"/>
          <p:cNvSpPr/>
          <p:nvPr/>
        </p:nvSpPr>
        <p:spPr>
          <a:xfrm>
            <a:off x="9601200" y="4114800"/>
            <a:ext cx="4572000" cy="4572000"/>
          </a:xfrm>
          <a:prstGeom prst="ellipse">
            <a:avLst/>
          </a:prstGeom>
          <a:solidFill>
            <a:srgbClr val="2FC5A2">
              <a:alpha val="18000"/>
            </a:srgbClr>
          </a:solidFill>
          <a:ln/>
        </p:spPr>
      </p:sp>
      <p:sp>
        <p:nvSpPr>
          <p:cNvPr id="4" name="Text 2"/>
          <p:cNvSpPr/>
          <p:nvPr/>
        </p:nvSpPr>
        <p:spPr>
          <a:xfrm>
            <a:off x="822960" y="2377440"/>
            <a:ext cx="82296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822960" y="3246120"/>
            <a:ext cx="8686800" cy="548640"/>
          </a:xfrm>
          <a:prstGeom prst="rect">
            <a:avLst/>
          </a:prstGeom>
          <a:noFill/>
          <a:ln/>
        </p:spPr>
        <p:txBody>
          <a:bodyPr wrap="square" rtlCol="0" anchor="ctr"/>
          <a:lstStyle/>
          <a:p>
            <a:pPr indent="0" marL="0">
              <a:buNone/>
            </a:pPr>
            <a:r>
              <a:rPr lang="en-US" sz="1500" i="1" dirty="0">
                <a:solidFill>
                  <a:srgbClr val="C9D6E0"/>
                </a:solidFill>
                <a:latin typeface="Calibri" pitchFamily="34" charset="0"/>
                <a:ea typeface="Calibri" pitchFamily="34" charset="-122"/>
                <a:cs typeface="Calibri" pitchFamily="34" charset="-120"/>
              </a:rPr>
              <a:t>AI-Assisted Recruitment Automation — built, tested, hardened, and demonstrated live.</a:t>
            </a:r>
            <a:endParaRPr lang="en-US" sz="1500" dirty="0"/>
          </a:p>
        </p:txBody>
      </p:sp>
      <p:sp>
        <p:nvSpPr>
          <p:cNvPr id="6" name="Text 4"/>
          <p:cNvSpPr/>
          <p:nvPr/>
        </p:nvSpPr>
        <p:spPr>
          <a:xfrm>
            <a:off x="822960" y="4160520"/>
            <a:ext cx="5486400" cy="320040"/>
          </a:xfrm>
          <a:prstGeom prst="rect">
            <a:avLst/>
          </a:prstGeom>
          <a:noFill/>
          <a:ln/>
        </p:spPr>
        <p:txBody>
          <a:bodyPr wrap="square" rtlCol="0" anchor="ctr"/>
          <a:lstStyle/>
          <a:p>
            <a:pPr indent="0" marL="0">
              <a:buNone/>
            </a:pPr>
            <a:r>
              <a:rPr lang="en-US" sz="1200" dirty="0">
                <a:solidFill>
                  <a:srgbClr val="9FB2C4"/>
                </a:solidFill>
                <a:latin typeface="Calibri" pitchFamily="34" charset="0"/>
                <a:ea typeface="Calibri" pitchFamily="34" charset="-122"/>
                <a:cs typeface="Calibri" pitchFamily="34" charset="-120"/>
              </a:rPr>
              <a:t>Full repository &amp; documentation:</a:t>
            </a:r>
            <a:endParaRPr lang="en-US" sz="1200" dirty="0"/>
          </a:p>
        </p:txBody>
      </p:sp>
      <p:sp>
        <p:nvSpPr>
          <p:cNvPr id="7" name="Text 5"/>
          <p:cNvSpPr/>
          <p:nvPr/>
        </p:nvSpPr>
        <p:spPr>
          <a:xfrm>
            <a:off x="822960" y="4480560"/>
            <a:ext cx="8229600" cy="365760"/>
          </a:xfrm>
          <a:prstGeom prst="rect">
            <a:avLst/>
          </a:prstGeom>
          <a:noFill/>
          <a:ln/>
        </p:spPr>
        <p:txBody>
          <a:bodyPr wrap="square" rtlCol="0" anchor="ctr"/>
          <a:lstStyle/>
          <a:p>
            <a:pPr indent="0" marL="0">
              <a:buNone/>
            </a:pPr>
            <a:r>
              <a:rPr lang="en-US" sz="1500" b="1" dirty="0">
                <a:solidFill>
                  <a:srgbClr val="2FC5A2"/>
                </a:solidFill>
                <a:latin typeface="Calibri" pitchFamily="34" charset="0"/>
                <a:ea typeface="Calibri" pitchFamily="34" charset="-122"/>
                <a:cs typeface="Calibri" pitchFamily="34" charset="-120"/>
              </a:rPr>
              <a:t>github.com/SajeelALi2023632/petalnex-ai-automation-internship</a:t>
            </a:r>
            <a:endParaRPr lang="en-US" sz="1500" dirty="0"/>
          </a:p>
        </p:txBody>
      </p:sp>
      <p:sp>
        <p:nvSpPr>
          <p:cNvPr id="8" name="Text 6"/>
          <p:cNvSpPr/>
          <p:nvPr/>
        </p:nvSpPr>
        <p:spPr>
          <a:xfrm>
            <a:off x="822960" y="5989320"/>
            <a:ext cx="8229600" cy="365760"/>
          </a:xfrm>
          <a:prstGeom prst="rect">
            <a:avLst/>
          </a:prstGeom>
          <a:noFill/>
          <a:ln/>
        </p:spPr>
        <p:txBody>
          <a:bodyPr wrap="square" rtlCol="0" anchor="ctr"/>
          <a:lstStyle/>
          <a:p>
            <a:pPr indent="0" marL="0">
              <a:buNone/>
            </a:pPr>
            <a:r>
              <a:rPr lang="en-US" sz="1200" dirty="0">
                <a:solidFill>
                  <a:srgbClr val="9FB2C4"/>
                </a:solidFill>
                <a:latin typeface="Calibri" pitchFamily="34" charset="0"/>
                <a:ea typeface="Calibri" pitchFamily="34" charset="-122"/>
                <a:cs typeface="Calibri" pitchFamily="34" charset="-120"/>
              </a:rPr>
              <a:t>Sajeel Ali   |   Petalnex Pvt. Ltd. — AI Automation Internship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2026-08-17T06:04:46Z</dcterms:created>
  <dcterms:modified xsi:type="dcterms:W3CDTF">2026-08-17T06:04:46Z</dcterms:modified>
</cp:coreProperties>
</file>